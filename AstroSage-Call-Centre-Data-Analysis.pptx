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8" r:id="rId1"/>
  </p:sldMasterIdLst>
  <p:notesMasterIdLst>
    <p:notesMasterId r:id="rId23"/>
  </p:notesMasterIdLst>
  <p:sldIdLst>
    <p:sldId id="256" r:id="rId2"/>
    <p:sldId id="257" r:id="rId3"/>
    <p:sldId id="258" r:id="rId4"/>
    <p:sldId id="267" r:id="rId5"/>
    <p:sldId id="261" r:id="rId6"/>
    <p:sldId id="265" r:id="rId7"/>
    <p:sldId id="268" r:id="rId8"/>
    <p:sldId id="269" r:id="rId9"/>
    <p:sldId id="26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70" r:id="rId18"/>
    <p:sldId id="271" r:id="rId19"/>
    <p:sldId id="272" r:id="rId20"/>
    <p:sldId id="274" r:id="rId21"/>
    <p:sldId id="266" r:id="rId22"/>
  </p:sldIdLst>
  <p:sldSz cx="18288000" cy="10287000"/>
  <p:notesSz cx="6858000" cy="9144000"/>
  <p:embeddedFontLs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League Spartan" panose="020B0604020202020204" charset="0"/>
      <p:regular r:id="rId28"/>
    </p:embeddedFont>
    <p:embeddedFont>
      <p:font typeface="Wingdings 3" panose="05040102010807070707" pitchFamily="18" charset="2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0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177D53-353B-4F60-88C1-0533927919C6}" v="680" dt="2025-08-02T20:55:36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58" d="100"/>
          <a:sy n="58" d="100"/>
        </p:scale>
        <p:origin x="53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PROJECTS\NS%20Excel%20Project\AstroSage_analysis.xlsx%20-%20data%20new_rebuil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PROJECTS\NS%20Excel%20Project\AstroSage_analysis.xlsx%20-%20data%20new_rebuil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4c1101ce258878/Desktop/AstroSage_analysis.xlsx%20-%20data%20_clean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4c1101ce258878/Desktop/AstroSage_analysis.xlsx%20-%20data%20_cleane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4c1101ce258878/Desktop/AstroSage_analysis.xlsx%20-%20data%20_cleane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4c1101ce258878/Desktop/AstroSage_analysis.xlsx%20-%20data%20_cleane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4c1101ce258878/Desktop/AstroSage_analysis.xlsx%20-%20data%20_cleane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4c1101ce258878/Desktop/AstroSage_analysis.xlsx%20-%20data%20_cleane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4c1101ce258878/Desktop/AstroSage_analysis.xlsx%20-%20data%20_cleaned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4c1101ce258878/Desktop/AstroSage_analysis.xlsx%20-%20data%20_cleaned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[AstroSage_analysis.xlsx - data new_rebuilt.xlsx]Objective!PivotTable8</c:name>
    <c:fmtId val="7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50" normalizeH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Revenue Distribution</a:t>
            </a:r>
            <a:endPara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0.21866002214839425"/>
          <c:y val="0"/>
        </c:manualLayout>
      </c:layout>
      <c:overlay val="0"/>
      <c:spPr>
        <a:noFill/>
        <a:ln w="9525" cap="flat" cmpd="sng" algn="ctr">
          <a:solidFill>
            <a:srgbClr val="860D4D"/>
          </a:solidFill>
          <a:prstDash val="solid"/>
          <a:round/>
          <a:headEnd type="none" w="med" len="med"/>
          <a:tailEnd type="none" w="med" len="me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50" normalizeH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circle"/>
          <c:size val="6"/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Objective!$AC$6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860D4D"/>
            </a:solidFill>
            <a:ln>
              <a:solidFill>
                <a:srgbClr val="860D4D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Objective!$AB$7:$AB$9</c:f>
              <c:strCache>
                <c:ptCount val="2"/>
                <c:pt idx="0">
                  <c:v>Call</c:v>
                </c:pt>
                <c:pt idx="1">
                  <c:v>Chat</c:v>
                </c:pt>
              </c:strCache>
            </c:strRef>
          </c:cat>
          <c:val>
            <c:numRef>
              <c:f>Objective!$AC$7:$AC$9</c:f>
              <c:numCache>
                <c:formatCode>0.00</c:formatCode>
                <c:ptCount val="2"/>
                <c:pt idx="0">
                  <c:v>168442.03500007425</c:v>
                </c:pt>
                <c:pt idx="1">
                  <c:v>45494.683333243076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57-4D3E-B18A-50C565CB27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582098448"/>
        <c:axId val="582106128"/>
      </c:barChart>
      <c:catAx>
        <c:axId val="58209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82106128"/>
        <c:crosses val="autoZero"/>
        <c:auto val="1"/>
        <c:lblAlgn val="ctr"/>
        <c:lblOffset val="100"/>
        <c:noMultiLvlLbl val="0"/>
      </c:catAx>
      <c:valAx>
        <c:axId val="582106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82098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>
      <a:glow rad="101600">
        <a:schemeClr val="accent4">
          <a:satMod val="175000"/>
          <a:alpha val="40000"/>
        </a:schemeClr>
      </a:glo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[AstroSage_analysis.xlsx - data new_rebuilt.xlsx]Objective!PivotTable1</c:name>
    <c:fmtId val="3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</a:t>
            </a:r>
            <a:r>
              <a:rPr lang="en-US" sz="20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solidFill>
            <a:srgbClr val="860D4D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Objective!$B$6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860D4D"/>
            </a:solidFill>
            <a:ln>
              <a:solidFill>
                <a:srgbClr val="860D4D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Objective!$A$7:$A$41</c:f>
              <c:strCache>
                <c:ptCount val="34"/>
                <c:pt idx="0">
                  <c:v>12/1/2023</c:v>
                </c:pt>
                <c:pt idx="1">
                  <c:v>12/2/2023</c:v>
                </c:pt>
                <c:pt idx="2">
                  <c:v>12/3/2023</c:v>
                </c:pt>
                <c:pt idx="3">
                  <c:v>12/4/2023</c:v>
                </c:pt>
                <c:pt idx="4">
                  <c:v>12/5/2023</c:v>
                </c:pt>
                <c:pt idx="5">
                  <c:v>12/6/2023</c:v>
                </c:pt>
                <c:pt idx="6">
                  <c:v>12/7/2023</c:v>
                </c:pt>
                <c:pt idx="7">
                  <c:v>12/8/2023</c:v>
                </c:pt>
                <c:pt idx="8">
                  <c:v>12/9/2023</c:v>
                </c:pt>
                <c:pt idx="9">
                  <c:v>12/10/2023</c:v>
                </c:pt>
                <c:pt idx="10">
                  <c:v>12/11/2023</c:v>
                </c:pt>
                <c:pt idx="11">
                  <c:v>12/12/2023</c:v>
                </c:pt>
                <c:pt idx="12">
                  <c:v>12/13/2023</c:v>
                </c:pt>
                <c:pt idx="13">
                  <c:v>12/14/2023</c:v>
                </c:pt>
                <c:pt idx="14">
                  <c:v>12/15/2023</c:v>
                </c:pt>
                <c:pt idx="15">
                  <c:v>12/16/2023</c:v>
                </c:pt>
                <c:pt idx="16">
                  <c:v>12/17/2023</c:v>
                </c:pt>
                <c:pt idx="17">
                  <c:v>12/18/2023</c:v>
                </c:pt>
                <c:pt idx="18">
                  <c:v>12/19/2023</c:v>
                </c:pt>
                <c:pt idx="19">
                  <c:v>12/20/2023</c:v>
                </c:pt>
                <c:pt idx="20">
                  <c:v>12/21/2023</c:v>
                </c:pt>
                <c:pt idx="21">
                  <c:v>12/22/2023</c:v>
                </c:pt>
                <c:pt idx="22">
                  <c:v>12/23/2023</c:v>
                </c:pt>
                <c:pt idx="23">
                  <c:v>12/24/2023</c:v>
                </c:pt>
                <c:pt idx="24">
                  <c:v>12/25/2023</c:v>
                </c:pt>
                <c:pt idx="25">
                  <c:v>12/26/2023</c:v>
                </c:pt>
                <c:pt idx="26">
                  <c:v>12/27/2023</c:v>
                </c:pt>
                <c:pt idx="27">
                  <c:v>12/28/2023</c:v>
                </c:pt>
                <c:pt idx="28">
                  <c:v>12/29/2023</c:v>
                </c:pt>
                <c:pt idx="29">
                  <c:v>12/30/2023</c:v>
                </c:pt>
                <c:pt idx="30">
                  <c:v>12/31/2023</c:v>
                </c:pt>
                <c:pt idx="31">
                  <c:v>1/1/2024</c:v>
                </c:pt>
                <c:pt idx="32">
                  <c:v>1/2/2024</c:v>
                </c:pt>
                <c:pt idx="33">
                  <c:v>1/3/2024</c:v>
                </c:pt>
              </c:strCache>
            </c:strRef>
          </c:cat>
          <c:val>
            <c:numRef>
              <c:f>Objective!$B$7:$B$41</c:f>
              <c:numCache>
                <c:formatCode>General</c:formatCode>
                <c:ptCount val="34"/>
                <c:pt idx="0">
                  <c:v>1039</c:v>
                </c:pt>
                <c:pt idx="1">
                  <c:v>1006</c:v>
                </c:pt>
                <c:pt idx="2">
                  <c:v>994</c:v>
                </c:pt>
                <c:pt idx="3">
                  <c:v>931</c:v>
                </c:pt>
                <c:pt idx="4">
                  <c:v>715</c:v>
                </c:pt>
                <c:pt idx="5">
                  <c:v>523</c:v>
                </c:pt>
                <c:pt idx="6">
                  <c:v>531</c:v>
                </c:pt>
                <c:pt idx="7">
                  <c:v>338</c:v>
                </c:pt>
                <c:pt idx="8">
                  <c:v>438</c:v>
                </c:pt>
                <c:pt idx="9">
                  <c:v>594</c:v>
                </c:pt>
                <c:pt idx="10">
                  <c:v>582</c:v>
                </c:pt>
                <c:pt idx="11">
                  <c:v>554</c:v>
                </c:pt>
                <c:pt idx="12">
                  <c:v>619</c:v>
                </c:pt>
                <c:pt idx="13">
                  <c:v>917</c:v>
                </c:pt>
                <c:pt idx="14">
                  <c:v>1324</c:v>
                </c:pt>
                <c:pt idx="15">
                  <c:v>952</c:v>
                </c:pt>
                <c:pt idx="16">
                  <c:v>929</c:v>
                </c:pt>
                <c:pt idx="17">
                  <c:v>1074</c:v>
                </c:pt>
                <c:pt idx="18">
                  <c:v>1046</c:v>
                </c:pt>
                <c:pt idx="19">
                  <c:v>854</c:v>
                </c:pt>
                <c:pt idx="20">
                  <c:v>814</c:v>
                </c:pt>
                <c:pt idx="21">
                  <c:v>775</c:v>
                </c:pt>
                <c:pt idx="22">
                  <c:v>1059</c:v>
                </c:pt>
                <c:pt idx="23">
                  <c:v>1061</c:v>
                </c:pt>
                <c:pt idx="24">
                  <c:v>1098</c:v>
                </c:pt>
                <c:pt idx="25">
                  <c:v>808</c:v>
                </c:pt>
                <c:pt idx="26">
                  <c:v>1001</c:v>
                </c:pt>
                <c:pt idx="27">
                  <c:v>1077</c:v>
                </c:pt>
                <c:pt idx="28">
                  <c:v>1020</c:v>
                </c:pt>
                <c:pt idx="29">
                  <c:v>778</c:v>
                </c:pt>
                <c:pt idx="30">
                  <c:v>1014</c:v>
                </c:pt>
                <c:pt idx="31">
                  <c:v>325</c:v>
                </c:pt>
                <c:pt idx="32">
                  <c:v>845</c:v>
                </c:pt>
                <c:pt idx="33">
                  <c:v>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EE-4318-A08F-1266ADF022D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639988991"/>
        <c:axId val="639987071"/>
      </c:barChart>
      <c:catAx>
        <c:axId val="6399889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639987071"/>
        <c:crosses val="autoZero"/>
        <c:auto val="1"/>
        <c:lblAlgn val="ctr"/>
        <c:lblOffset val="100"/>
        <c:noMultiLvlLbl val="0"/>
      </c:catAx>
      <c:valAx>
        <c:axId val="639987071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0">
                    <a:schemeClr val="tx1">
                      <a:lumMod val="5000"/>
                      <a:lumOff val="95000"/>
                    </a:schemeClr>
                  </a:gs>
                  <a:gs pos="10000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639988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 w="9525" cap="flat" cmpd="sng" algn="ctr">
      <a:solidFill>
        <a:schemeClr val="tx1"/>
      </a:solidFill>
      <a:round/>
    </a:ln>
    <a:effectLst>
      <a:glow rad="101600">
        <a:schemeClr val="accent4">
          <a:satMod val="175000"/>
          <a:alpha val="40000"/>
        </a:schemeClr>
      </a:glow>
      <a:outerShdw blurRad="50800" dist="38100" dir="5400000" algn="t" rotWithShape="0">
        <a:prstClr val="black">
          <a:alpha val="40000"/>
        </a:prstClr>
      </a:outerShdw>
    </a:effectLst>
    <a:scene3d>
      <a:camera prst="orthographicFront"/>
      <a:lightRig rig="threePt" dir="t"/>
    </a:scene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[AstroSage_analysis.xlsx - data _cleaned.xlsx]Objective!PivotTable8</c:name>
    <c:fmtId val="5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CONSULTATION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shade val="76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shade val="76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tint val="77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tint val="77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tint val="86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tint val="86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tint val="58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tint val="58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shade val="76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shade val="76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tint val="77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tint val="77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tint val="86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tint val="86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tint val="58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tint val="58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shade val="76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shade val="76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tint val="77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tint val="77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tint val="86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tint val="86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>
            <a:innerShdw blurRad="114300">
              <a:schemeClr val="accent6">
                <a:tint val="58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tint val="58000"/>
                <a:lumMod val="75000"/>
              </a:schemeClr>
            </a:contourClr>
          </a:sp3d>
        </c:spPr>
        <c:dLbl>
          <c:idx val="0"/>
          <c:spPr>
            <a:noFill/>
            <a:ln w="12700" cap="flat" cmpd="sng" algn="ctr">
              <a:solidFill>
                <a:srgbClr val="70AD47"/>
              </a:solidFill>
              <a:round/>
            </a:ln>
            <a:effectLst>
              <a:outerShdw blurRad="50800" dist="38100" dir="2700000" algn="tl" rotWithShape="0">
                <a:srgbClr val="70AD47">
                  <a:lumMod val="75000"/>
                  <a:alpha val="40000"/>
                </a:srgb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Objective!$AC$6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B9B1-441D-A5D6-67306F4732C9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B9B1-441D-A5D6-67306F4732C9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B9B1-441D-A5D6-67306F4732C9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B9B1-441D-A5D6-67306F4732C9}"/>
              </c:ext>
            </c:extLst>
          </c:dPt>
          <c:dLbls>
            <c:dLbl>
              <c:idx val="3"/>
              <c:layout>
                <c:manualLayout>
                  <c:x val="0.20464051961859198"/>
                  <c:y val="0.18080233118683281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9B1-441D-A5D6-67306F4732C9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Objective!$AB$7:$AB$11</c:f>
              <c:strCache>
                <c:ptCount val="4"/>
                <c:pt idx="0">
                  <c:v>Call</c:v>
                </c:pt>
                <c:pt idx="1">
                  <c:v>Chat</c:v>
                </c:pt>
                <c:pt idx="2">
                  <c:v>Complementary</c:v>
                </c:pt>
                <c:pt idx="3">
                  <c:v>public_live_Call</c:v>
                </c:pt>
              </c:strCache>
            </c:strRef>
          </c:cat>
          <c:val>
            <c:numRef>
              <c:f>Objective!$AC$7:$AC$11</c:f>
              <c:numCache>
                <c:formatCode>0.00</c:formatCode>
                <c:ptCount val="4"/>
                <c:pt idx="0">
                  <c:v>168442.03500007425</c:v>
                </c:pt>
                <c:pt idx="1">
                  <c:v>45494.683333243076</c:v>
                </c:pt>
                <c:pt idx="3">
                  <c:v>50.596999999999994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9B1-441D-A5D6-67306F4732C9}"/>
            </c:ext>
          </c:extLst>
        </c:ser>
        <c:dLbls>
          <c:dLblPos val="ctr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[AstroSage_analysis.xlsx - data _cleaned.xlsx]Objective!PivotTable11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2000" dirty="0">
                <a:solidFill>
                  <a:schemeClr val="tx1"/>
                </a:solidFill>
              </a:rPr>
              <a:t>MONTHLY AVERAGE RATING	</a:t>
            </a:r>
          </a:p>
        </c:rich>
      </c:tx>
      <c:overlay val="0"/>
      <c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Objective!$AO$11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rgbClr val="860D4D"/>
              </a:solidFill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60D4D"/>
              </a:solidFill>
              <a:ln w="9525" cap="flat" cmpd="sng" algn="ctr">
                <a:solidFill>
                  <a:srgbClr val="860D4D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68E1-40EB-9716-3BB9EEF82BFC}"/>
              </c:ext>
            </c:extLst>
          </c:dPt>
          <c:dPt>
            <c:idx val="1"/>
            <c:invertIfNegative val="0"/>
            <c:bubble3D val="0"/>
            <c:spPr>
              <a:solidFill>
                <a:srgbClr val="860D4D"/>
              </a:solidFill>
              <a:ln w="9525" cap="flat" cmpd="sng" algn="ctr">
                <a:solidFill>
                  <a:srgbClr val="860D4D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8E1-40EB-9716-3BB9EEF82BF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Objective!$AN$12:$AN$14</c:f>
              <c:strCache>
                <c:ptCount val="2"/>
                <c:pt idx="0">
                  <c:v>January</c:v>
                </c:pt>
                <c:pt idx="1">
                  <c:v>December</c:v>
                </c:pt>
              </c:strCache>
            </c:strRef>
          </c:cat>
          <c:val>
            <c:numRef>
              <c:f>Objective!$AO$12:$AO$14</c:f>
              <c:numCache>
                <c:formatCode>0.0</c:formatCode>
                <c:ptCount val="2"/>
                <c:pt idx="0">
                  <c:v>2.6764132553606239</c:v>
                </c:pt>
                <c:pt idx="1">
                  <c:v>2.9494144314318098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E1-40EB-9716-3BB9EEF82BF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077710847"/>
        <c:axId val="1192277711"/>
      </c:barChart>
      <c:valAx>
        <c:axId val="11922777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IN"/>
                  <a:t>Avg Rating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IN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077710847"/>
        <c:crosses val="autoZero"/>
        <c:crossBetween val="between"/>
      </c:valAx>
      <c:catAx>
        <c:axId val="107771084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IN"/>
                  <a:t> 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1922777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 w="9525" cap="flat" cmpd="sng" algn="ctr">
      <a:solidFill>
        <a:schemeClr val="bg2"/>
      </a:solidFill>
      <a:round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[AstroSage_analysis.xlsx - data _cleaned.xlsx]Objective!PivotTable15</c:name>
    <c:fmtId val="3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CALL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  <c:dLbl>
          <c:idx val="0"/>
          <c:dLblPos val="out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</c:pivotFmt>
      <c:pivotFmt>
        <c:idx val="9"/>
      </c:pivotFmt>
      <c:pivotFmt>
        <c:idx val="10"/>
      </c:pivotFmt>
      <c:pivotFmt>
        <c:idx val="11"/>
      </c:pivotFmt>
      <c:pivotFmt>
        <c:idx val="12"/>
      </c:pivotFmt>
      <c:pivotFmt>
        <c:idx val="13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5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6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7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8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9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1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2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3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4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5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7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8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9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30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Objective!$AS$74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3000"/>
                      <a:tint val="98000"/>
                      <a:lumMod val="114000"/>
                    </a:schemeClr>
                  </a:gs>
                  <a:gs pos="100000">
                    <a:schemeClr val="accent1">
                      <a:shade val="53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A8AA-4641-AF95-E2CEB30E6F50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hade val="76000"/>
                      <a:tint val="98000"/>
                      <a:lumMod val="114000"/>
                    </a:schemeClr>
                  </a:gs>
                  <a:gs pos="100000">
                    <a:schemeClr val="accent1">
                      <a:shade val="76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A8AA-4641-AF95-E2CEB30E6F50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tint val="98000"/>
                      <a:lumMod val="114000"/>
                    </a:schemeClr>
                  </a:gs>
                  <a:gs pos="100000">
                    <a:schemeClr val="accent1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5-A8AA-4641-AF95-E2CEB30E6F50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tint val="77000"/>
                      <a:tint val="98000"/>
                      <a:lumMod val="114000"/>
                    </a:schemeClr>
                  </a:gs>
                  <a:gs pos="100000">
                    <a:schemeClr val="accent1">
                      <a:tint val="77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7-A8AA-4641-AF95-E2CEB30E6F50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1">
                      <a:tint val="54000"/>
                      <a:tint val="98000"/>
                      <a:lumMod val="114000"/>
                    </a:schemeClr>
                  </a:gs>
                  <a:gs pos="100000">
                    <a:schemeClr val="accent1">
                      <a:tint val="54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9-A8AA-4641-AF95-E2CEB30E6F5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Objective!$AR$75:$AR$80</c:f>
              <c:strCache>
                <c:ptCount val="5"/>
                <c:pt idx="0">
                  <c:v>busy</c:v>
                </c:pt>
                <c:pt idx="1">
                  <c:v>completed</c:v>
                </c:pt>
                <c:pt idx="2">
                  <c:v>failed</c:v>
                </c:pt>
                <c:pt idx="3">
                  <c:v>incomplete</c:v>
                </c:pt>
                <c:pt idx="4">
                  <c:v>no-answer</c:v>
                </c:pt>
              </c:strCache>
            </c:strRef>
          </c:cat>
          <c:val>
            <c:numRef>
              <c:f>Objective!$AS$75:$AS$80</c:f>
              <c:numCache>
                <c:formatCode>General</c:formatCode>
                <c:ptCount val="5"/>
                <c:pt idx="0">
                  <c:v>1270</c:v>
                </c:pt>
                <c:pt idx="1">
                  <c:v>3453</c:v>
                </c:pt>
                <c:pt idx="2">
                  <c:v>1197</c:v>
                </c:pt>
                <c:pt idx="3">
                  <c:v>875</c:v>
                </c:pt>
                <c:pt idx="4">
                  <c:v>1729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8AA-4641-AF95-E2CEB30E6F50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[AstroSage_analysis.xlsx - data _cleaned.xlsx]Objective!PivotTable14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CONSULTATION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6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7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8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9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1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2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3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4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6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7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8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Objective!$AP$24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8000"/>
                      <a:tint val="98000"/>
                      <a:lumMod val="114000"/>
                    </a:schemeClr>
                  </a:gs>
                  <a:gs pos="100000">
                    <a:schemeClr val="accent1">
                      <a:shade val="58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38100" dist="25400" dir="5400000" rotWithShape="0">
                  <a:srgbClr val="000000">
                    <a:alpha val="4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A2EA-4CFE-B9E9-8990EF6F7D0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hade val="86000"/>
                      <a:tint val="98000"/>
                      <a:lumMod val="114000"/>
                    </a:schemeClr>
                  </a:gs>
                  <a:gs pos="100000">
                    <a:schemeClr val="accent1">
                      <a:shade val="86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38100" dist="25400" dir="5400000" rotWithShape="0">
                  <a:srgbClr val="000000">
                    <a:alpha val="4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A2EA-4CFE-B9E9-8990EF6F7D0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tint val="86000"/>
                      <a:tint val="98000"/>
                      <a:lumMod val="114000"/>
                    </a:schemeClr>
                  </a:gs>
                  <a:gs pos="100000">
                    <a:schemeClr val="accent1">
                      <a:tint val="86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38100" dist="25400" dir="5400000" rotWithShape="0">
                  <a:srgbClr val="000000">
                    <a:alpha val="4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A2EA-4CFE-B9E9-8990EF6F7D03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tint val="58000"/>
                      <a:tint val="98000"/>
                      <a:lumMod val="114000"/>
                    </a:schemeClr>
                  </a:gs>
                  <a:gs pos="100000">
                    <a:schemeClr val="accent1">
                      <a:tint val="58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38100" dist="25400" dir="5400000" rotWithShape="0">
                  <a:srgbClr val="000000">
                    <a:alpha val="4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A2EA-4CFE-B9E9-8990EF6F7D03}"/>
              </c:ext>
            </c:extLst>
          </c:dPt>
          <c:dLbls>
            <c:dLbl>
              <c:idx val="2"/>
              <c:layout>
                <c:manualLayout>
                  <c:x val="8.6142322097378279E-2"/>
                  <c:y val="9.784229154209085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EA-4CFE-B9E9-8990EF6F7D03}"/>
                </c:ext>
              </c:extLst>
            </c:dLbl>
            <c:dLbl>
              <c:idx val="3"/>
              <c:layout>
                <c:manualLayout>
                  <c:x val="-0.11797760181662685"/>
                  <c:y val="0.1171596620600949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2EA-4CFE-B9E9-8990EF6F7D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Objective!$AO$25:$AO$29</c:f>
              <c:strCache>
                <c:ptCount val="4"/>
                <c:pt idx="0">
                  <c:v>Call</c:v>
                </c:pt>
                <c:pt idx="1">
                  <c:v>Chat</c:v>
                </c:pt>
                <c:pt idx="2">
                  <c:v>Complementary</c:v>
                </c:pt>
                <c:pt idx="3">
                  <c:v>public_live_Call</c:v>
                </c:pt>
              </c:strCache>
            </c:strRef>
          </c:cat>
          <c:val>
            <c:numRef>
              <c:f>Objective!$AP$25:$AP$29</c:f>
              <c:numCache>
                <c:formatCode>General</c:formatCode>
                <c:ptCount val="4"/>
                <c:pt idx="0">
                  <c:v>8491</c:v>
                </c:pt>
                <c:pt idx="1">
                  <c:v>19513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2EA-4CFE-B9E9-8990EF6F7D03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[AstroSage_analysis.xlsx - data _cleaned.xlsx]Objective!PivotTable12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HOURLY</a:t>
            </a:r>
            <a:r>
              <a:rPr lang="en-US" sz="2000" baseline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VOLUME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solidFill>
          <a:schemeClr val="bg2"/>
        </a:solidFill>
        <a:ln w="19050" cap="rnd" cmpd="sng" algn="ctr">
          <a:solidFill>
            <a:schemeClr val="accent1"/>
          </a:solidFill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Objective!$AS$42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860D4D"/>
            </a:solidFill>
            <a:ln>
              <a:solidFill>
                <a:srgbClr val="860D4D"/>
              </a:solidFill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Objective!$AR$43:$AR$67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Objective!$AS$43:$AS$67</c:f>
              <c:numCache>
                <c:formatCode>General</c:formatCode>
                <c:ptCount val="24"/>
                <c:pt idx="0">
                  <c:v>226</c:v>
                </c:pt>
                <c:pt idx="1">
                  <c:v>304</c:v>
                </c:pt>
                <c:pt idx="2">
                  <c:v>560</c:v>
                </c:pt>
                <c:pt idx="3">
                  <c:v>856</c:v>
                </c:pt>
                <c:pt idx="4">
                  <c:v>1153</c:v>
                </c:pt>
                <c:pt idx="5">
                  <c:v>1438</c:v>
                </c:pt>
                <c:pt idx="6">
                  <c:v>1855</c:v>
                </c:pt>
                <c:pt idx="7">
                  <c:v>1664</c:v>
                </c:pt>
                <c:pt idx="8">
                  <c:v>1874</c:v>
                </c:pt>
                <c:pt idx="9">
                  <c:v>1673</c:v>
                </c:pt>
                <c:pt idx="10">
                  <c:v>1704</c:v>
                </c:pt>
                <c:pt idx="11">
                  <c:v>1472</c:v>
                </c:pt>
                <c:pt idx="12">
                  <c:v>1591</c:v>
                </c:pt>
                <c:pt idx="13">
                  <c:v>1574</c:v>
                </c:pt>
                <c:pt idx="14">
                  <c:v>1673</c:v>
                </c:pt>
                <c:pt idx="15">
                  <c:v>1747</c:v>
                </c:pt>
                <c:pt idx="16">
                  <c:v>1773</c:v>
                </c:pt>
                <c:pt idx="17">
                  <c:v>1443</c:v>
                </c:pt>
                <c:pt idx="18">
                  <c:v>1099</c:v>
                </c:pt>
                <c:pt idx="19">
                  <c:v>912</c:v>
                </c:pt>
                <c:pt idx="20">
                  <c:v>553</c:v>
                </c:pt>
                <c:pt idx="21">
                  <c:v>347</c:v>
                </c:pt>
                <c:pt idx="22">
                  <c:v>263</c:v>
                </c:pt>
                <c:pt idx="23">
                  <c:v>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40-4439-B016-888B6963BB4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94607727"/>
        <c:axId val="1194608207"/>
      </c:barChart>
      <c:catAx>
        <c:axId val="11946077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r>
                  <a:rPr lang="en-IN" sz="12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Hour</a:t>
                </a:r>
              </a:p>
              <a:p>
                <a:pPr>
                  <a:defRPr sz="12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IN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194608207"/>
        <c:crosses val="autoZero"/>
        <c:auto val="1"/>
        <c:lblAlgn val="ctr"/>
        <c:lblOffset val="100"/>
        <c:noMultiLvlLbl val="0"/>
      </c:catAx>
      <c:valAx>
        <c:axId val="119460820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r>
                  <a:rPr lang="en-IN" sz="12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</a:t>
                </a:r>
                <a:r>
                  <a:rPr lang="en-IN" sz="1200" b="1" baseline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calls</a:t>
                </a:r>
              </a:p>
              <a:p>
                <a:pPr>
                  <a:defRPr sz="12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IN" sz="12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194607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 w="9525" cap="flat" cmpd="sng" algn="ctr">
      <a:solidFill>
        <a:schemeClr val="bg2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[AstroSage_analysis.xlsx - data _cleaned.xlsx]Objective!PivotTable2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CALLS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6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7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9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0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2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Objective!$F$6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76000"/>
                      <a:tint val="98000"/>
                      <a:lumMod val="114000"/>
                    </a:schemeClr>
                  </a:gs>
                  <a:gs pos="100000">
                    <a:schemeClr val="accent1">
                      <a:shade val="76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B516-4404-A206-56AAF27C382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tint val="77000"/>
                      <a:tint val="98000"/>
                      <a:lumMod val="114000"/>
                    </a:schemeClr>
                  </a:gs>
                  <a:gs pos="100000">
                    <a:schemeClr val="accent1">
                      <a:tint val="77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B516-4404-A206-56AAF27C382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Objective!$E$7:$E$9</c:f>
              <c:strCache>
                <c:ptCount val="2"/>
                <c:pt idx="0">
                  <c:v>January</c:v>
                </c:pt>
                <c:pt idx="1">
                  <c:v>December</c:v>
                </c:pt>
              </c:strCache>
            </c:strRef>
          </c:cat>
          <c:val>
            <c:numRef>
              <c:f>Objective!$F$7:$F$9</c:f>
              <c:numCache>
                <c:formatCode>General</c:formatCode>
                <c:ptCount val="2"/>
                <c:pt idx="0">
                  <c:v>1539</c:v>
                </c:pt>
                <c:pt idx="1">
                  <c:v>26470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516-4404-A206-56AAF27C3822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[AstroSage_analysis.xlsx - data _cleaned.xlsx]Objective!PivotTable4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WEBSITE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7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8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9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1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2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3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5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6"/>
        <c:spPr>
          <a:gradFill rotWithShape="1">
            <a:gsLst>
              <a:gs pos="0">
                <a:schemeClr val="accent1">
                  <a:tint val="98000"/>
                  <a:lumMod val="114000"/>
                </a:schemeClr>
              </a:gs>
              <a:gs pos="100000">
                <a:schemeClr val="accent1">
                  <a:shade val="90000"/>
                  <a:lumMod val="84000"/>
                </a:schemeClr>
              </a:gs>
            </a:gsLst>
            <a:lin ang="5400000" scaled="0"/>
          </a:gra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Objective!$AV$9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65000"/>
                      <a:tint val="98000"/>
                      <a:lumMod val="114000"/>
                    </a:schemeClr>
                  </a:gs>
                  <a:gs pos="100000">
                    <a:schemeClr val="accent1">
                      <a:shade val="65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33C4-46FA-83F5-1A2D399B0F88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tint val="98000"/>
                      <a:lumMod val="114000"/>
                    </a:schemeClr>
                  </a:gs>
                  <a:gs pos="100000">
                    <a:schemeClr val="accent1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33C4-46FA-83F5-1A2D399B0F88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tint val="65000"/>
                      <a:tint val="98000"/>
                      <a:lumMod val="114000"/>
                    </a:schemeClr>
                  </a:gs>
                  <a:gs pos="100000">
                    <a:schemeClr val="accent1">
                      <a:tint val="65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5-33C4-46FA-83F5-1A2D399B0F8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Objective!$AU$10:$AU$13</c:f>
              <c:strCache>
                <c:ptCount val="3"/>
                <c:pt idx="0">
                  <c:v>app</c:v>
                </c:pt>
                <c:pt idx="1">
                  <c:v>dashboard</c:v>
                </c:pt>
                <c:pt idx="2">
                  <c:v>gurucool</c:v>
                </c:pt>
              </c:strCache>
            </c:strRef>
          </c:cat>
          <c:val>
            <c:numRef>
              <c:f>Objective!$AV$10:$AV$13</c:f>
              <c:numCache>
                <c:formatCode>General</c:formatCode>
                <c:ptCount val="3"/>
                <c:pt idx="0">
                  <c:v>7783</c:v>
                </c:pt>
                <c:pt idx="1">
                  <c:v>2</c:v>
                </c:pt>
                <c:pt idx="2">
                  <c:v>20224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3C4-46FA-83F5-1A2D399B0F88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[AstroSage_analysis.xlsx - data _cleaned.xlsx]Objective!PivotTable5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2000" b="1" dirty="0">
                <a:solidFill>
                  <a:schemeClr val="dk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TOP</a:t>
            </a:r>
            <a:r>
              <a:rPr lang="en-US" sz="2000" b="1" baseline="0" dirty="0">
                <a:solidFill>
                  <a:schemeClr val="dk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10 GURU BY RATING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solidFill>
          <a:schemeClr val="bg2"/>
        </a:solidFill>
        <a:ln w="19050" cap="rnd" cmpd="sng" algn="ctr">
          <a:solidFill>
            <a:schemeClr val="accent1"/>
          </a:solidFill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>
            <a:gsLst>
              <a:gs pos="0">
                <a:schemeClr val="accent6"/>
              </a:gs>
              <a:gs pos="100000">
                <a:schemeClr val="accent6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>
            <a:gsLst>
              <a:gs pos="0">
                <a:schemeClr val="accent6"/>
              </a:gs>
              <a:gs pos="100000">
                <a:schemeClr val="accent6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>
            <a:gsLst>
              <a:gs pos="0">
                <a:schemeClr val="accent6"/>
              </a:gs>
              <a:gs pos="100000">
                <a:schemeClr val="accent6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Objective!$AP$42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860D4D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lt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Objective!$AO$43:$AO$53</c:f>
              <c:strCache>
                <c:ptCount val="10"/>
                <c:pt idx="0">
                  <c:v>Tarot Mystical</c:v>
                </c:pt>
                <c:pt idx="1">
                  <c:v>Astro Pujaa Rai</c:v>
                </c:pt>
                <c:pt idx="2">
                  <c:v>Daljit Kaur</c:v>
                </c:pt>
                <c:pt idx="3">
                  <c:v>Astro Reema</c:v>
                </c:pt>
                <c:pt idx="4">
                  <c:v>Tarot Ankita</c:v>
                </c:pt>
                <c:pt idx="5">
                  <c:v>Astro Saraswat</c:v>
                </c:pt>
                <c:pt idx="6">
                  <c:v>Tarot Diva Poonam</c:v>
                </c:pt>
                <c:pt idx="7">
                  <c:v>Astro Trisha</c:v>
                </c:pt>
                <c:pt idx="8">
                  <c:v>Tarot Oormika</c:v>
                </c:pt>
                <c:pt idx="9">
                  <c:v>Astro Manish S</c:v>
                </c:pt>
              </c:strCache>
            </c:strRef>
          </c:cat>
          <c:val>
            <c:numRef>
              <c:f>Objective!$AP$43:$AP$53</c:f>
              <c:numCache>
                <c:formatCode>0.0</c:formatCode>
                <c:ptCount val="10"/>
                <c:pt idx="0">
                  <c:v>7.5</c:v>
                </c:pt>
                <c:pt idx="1">
                  <c:v>7.5</c:v>
                </c:pt>
                <c:pt idx="2">
                  <c:v>5.9459459459459456</c:v>
                </c:pt>
                <c:pt idx="3">
                  <c:v>5.9</c:v>
                </c:pt>
                <c:pt idx="4">
                  <c:v>5.75</c:v>
                </c:pt>
                <c:pt idx="5">
                  <c:v>5.6111111111111107</c:v>
                </c:pt>
                <c:pt idx="6">
                  <c:v>5.4626865671641793</c:v>
                </c:pt>
                <c:pt idx="7">
                  <c:v>5.4243243243243242</c:v>
                </c:pt>
                <c:pt idx="8">
                  <c:v>5.4</c:v>
                </c:pt>
                <c:pt idx="9">
                  <c:v>5.0487804878048781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D0-4176-87AF-A90980EFFD4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877761807"/>
        <c:axId val="1207633055"/>
      </c:barChart>
      <c:catAx>
        <c:axId val="8777618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Guru</a:t>
                </a:r>
                <a:r>
                  <a:rPr lang="en-IN" baseline="0"/>
                  <a:t>  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207633055"/>
        <c:crosses val="autoZero"/>
        <c:auto val="1"/>
        <c:lblAlgn val="ctr"/>
        <c:lblOffset val="100"/>
        <c:noMultiLvlLbl val="0"/>
      </c:catAx>
      <c:valAx>
        <c:axId val="1207633055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r>
                  <a:rPr lang="en-IN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Avg.</a:t>
                </a:r>
                <a:r>
                  <a:rPr lang="en-IN" sz="1200" baseline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Rating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en-IN"/>
            </a:p>
          </c:txPr>
        </c:title>
        <c:numFmt formatCode="0.0" sourceLinked="1"/>
        <c:majorTickMark val="none"/>
        <c:minorTickMark val="none"/>
        <c:tickLblPos val="nextTo"/>
        <c:crossAx val="8777618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 w="9525" cap="flat" cmpd="sng" algn="ctr">
      <a:solidFill>
        <a:schemeClr val="bg2">
          <a:lumMod val="9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66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87A08-323A-452B-B9F3-E19562D9BC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DEFF5B-A218-4440-BBB4-A4BC54DB1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70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DEFF5B-A218-4440-BBB4-A4BC54DB1BD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816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3149600"/>
            <a:ext cx="13238487" cy="4016472"/>
          </a:xfrm>
        </p:spPr>
        <p:txBody>
          <a:bodyPr anchor="b"/>
          <a:lstStyle>
            <a:lvl1pPr>
              <a:defRPr sz="8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5238477" y="2688337"/>
            <a:ext cx="1485899" cy="4571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13427964" y="4841749"/>
            <a:ext cx="5789693" cy="457202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528811" y="443594"/>
            <a:ext cx="1257299" cy="1151531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26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432" y="3905250"/>
            <a:ext cx="13238489" cy="5124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5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4016468"/>
            <a:ext cx="6526538" cy="3425736"/>
          </a:xfrm>
        </p:spPr>
        <p:txBody>
          <a:bodyPr anchor="ctr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3339" y="4016466"/>
            <a:ext cx="5636318" cy="3425736"/>
          </a:xfrm>
        </p:spPr>
        <p:txBody>
          <a:bodyPr anchor="ctr"/>
          <a:lstStyle>
            <a:lvl1pPr marL="0" indent="0" algn="l">
              <a:buNone/>
              <a:defRPr sz="3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3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31" y="3905251"/>
            <a:ext cx="7237737" cy="512445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13069" y="3905250"/>
            <a:ext cx="7237739" cy="5124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3905250"/>
            <a:ext cx="7237736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2431" y="4769644"/>
            <a:ext cx="7237737" cy="426005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13069" y="3905250"/>
            <a:ext cx="723773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13069" y="4769644"/>
            <a:ext cx="7237739" cy="4260059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12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142120" cy="106044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3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63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3" y="1943100"/>
            <a:ext cx="4189737" cy="24003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1719" y="2171700"/>
            <a:ext cx="7785099" cy="6858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732431" y="4693921"/>
            <a:ext cx="4189737" cy="4343399"/>
          </a:xfrm>
        </p:spPr>
        <p:txBody>
          <a:bodyPr/>
          <a:lstStyle>
            <a:lvl1pPr marL="0" indent="0">
              <a:buNone/>
              <a:defRPr sz="21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00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3" y="2540000"/>
            <a:ext cx="5797701" cy="2603501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21806" y="1714500"/>
            <a:ext cx="484079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732431" y="5486400"/>
            <a:ext cx="5788818" cy="20574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7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7454891"/>
            <a:ext cx="13238489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2" y="1028700"/>
            <a:ext cx="13238489" cy="5143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1" y="8304998"/>
            <a:ext cx="13238487" cy="74056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89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3197" y="1595126"/>
            <a:ext cx="13247724" cy="2059479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314950"/>
            <a:ext cx="13238489" cy="371475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22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1322349" y="911004"/>
            <a:ext cx="12028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4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4826688" y="3920681"/>
            <a:ext cx="9791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4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2817" y="1473201"/>
            <a:ext cx="12680859" cy="4044948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918918" y="5518149"/>
            <a:ext cx="11596829" cy="51326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7543799"/>
            <a:ext cx="13867346" cy="1496786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13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1" y="3556001"/>
            <a:ext cx="13238490" cy="27337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7537451"/>
            <a:ext cx="13238489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50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1" y="3905253"/>
            <a:ext cx="471281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732430" y="4769647"/>
            <a:ext cx="4712819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69082" y="3905250"/>
            <a:ext cx="4720514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6769082" y="4769645"/>
            <a:ext cx="4720514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832203" y="3905252"/>
            <a:ext cx="471859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832494" y="4769643"/>
            <a:ext cx="4718304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605956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658602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96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1" y="6799266"/>
            <a:ext cx="457565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001830" y="3905250"/>
            <a:ext cx="4036863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732431" y="7663659"/>
            <a:ext cx="4575657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53298" y="6799267"/>
            <a:ext cx="4575657" cy="864395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7122694" y="3905250"/>
            <a:ext cx="4036865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6855258" y="7663658"/>
            <a:ext cx="4575657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74163" y="6799268"/>
            <a:ext cx="4576643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2244547" y="3905250"/>
            <a:ext cx="4036863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974163" y="7663656"/>
            <a:ext cx="4576644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6608747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11696703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41667" y="9587758"/>
            <a:ext cx="5466423" cy="45720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93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32" y="3905250"/>
            <a:ext cx="13238489" cy="512445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043159" y="9587758"/>
            <a:ext cx="1485899" cy="4571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32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77853" y="1917701"/>
            <a:ext cx="2114948" cy="712288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32" y="1917701"/>
            <a:ext cx="9384038" cy="71228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979657" y="9587758"/>
            <a:ext cx="1488203" cy="4571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29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732432" y="1460502"/>
            <a:ext cx="13142120" cy="10604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3905250"/>
            <a:ext cx="13142120" cy="512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979657" y="9587758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1666" y="9587758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9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5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143000" y="3667463"/>
            <a:ext cx="8001000" cy="229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840"/>
              </a:lnSpc>
            </a:pPr>
            <a:r>
              <a:rPr lang="en-US" sz="9600" b="1" spc="106" dirty="0">
                <a:solidFill>
                  <a:schemeClr val="accent1"/>
                </a:solidFill>
                <a:latin typeface="Atten New" panose="00000500000000000000" charset="0"/>
                <a:ea typeface="Telegraf Bold" panose="00000800000000000000"/>
                <a:cs typeface="Atten New" panose="00000500000000000000" charset="0"/>
                <a:sym typeface="Telegraf Bold" panose="00000800000000000000"/>
              </a:rPr>
              <a:t>Astro</a:t>
            </a:r>
            <a:r>
              <a:rPr lang="en-IN" altLang="en-US" sz="9600" b="1" spc="106" dirty="0">
                <a:solidFill>
                  <a:schemeClr val="accent1"/>
                </a:solidFill>
                <a:latin typeface="Atten New" panose="00000500000000000000" charset="0"/>
                <a:ea typeface="Telegraf Bold" panose="00000800000000000000"/>
                <a:cs typeface="Atten New" panose="00000500000000000000" charset="0"/>
                <a:sym typeface="Telegraf Bold" panose="00000800000000000000"/>
              </a:rPr>
              <a:t>S</a:t>
            </a:r>
            <a:r>
              <a:rPr lang="en-US" sz="9600" b="1" spc="106" dirty="0">
                <a:solidFill>
                  <a:schemeClr val="accent1"/>
                </a:solidFill>
                <a:latin typeface="Atten New" panose="00000500000000000000" charset="0"/>
                <a:ea typeface="Telegraf Bold" panose="00000800000000000000"/>
                <a:cs typeface="Atten New" panose="00000500000000000000" charset="0"/>
                <a:sym typeface="Telegraf Bold" panose="00000800000000000000"/>
              </a:rPr>
              <a:t>age </a:t>
            </a:r>
          </a:p>
          <a:p>
            <a:pPr>
              <a:lnSpc>
                <a:spcPts val="8840"/>
              </a:lnSpc>
            </a:pPr>
            <a:r>
              <a:rPr lang="en-US" sz="9600" b="1" spc="106" dirty="0">
                <a:solidFill>
                  <a:schemeClr val="accent1"/>
                </a:solidFill>
                <a:latin typeface="Atten New" panose="00000500000000000000" charset="0"/>
                <a:ea typeface="Telegraf Bold" panose="00000800000000000000"/>
                <a:cs typeface="Atten New" panose="00000500000000000000" charset="0"/>
                <a:sym typeface="Telegraf Bold" panose="00000800000000000000"/>
              </a:rPr>
              <a:t>Sales Analysis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24400" y="6074074"/>
            <a:ext cx="3918894" cy="432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sz="2498" dirty="0">
                <a:solidFill>
                  <a:srgbClr val="0D2F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BY Vishal Ratnakar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98C4B9-0445-C16F-854B-5D6C75E41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892706"/>
            <a:ext cx="6501587" cy="65015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5400000">
            <a:off x="7750950" y="-3945750"/>
            <a:ext cx="1335145" cy="10137754"/>
            <a:chOff x="0" y="0"/>
            <a:chExt cx="285629" cy="21687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7373105" y="-4224665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71801" y="194321"/>
            <a:ext cx="10271326" cy="1286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7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ABOUT ASTROSAGE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08812A-DBD2-7F03-D74B-A7461C191371}"/>
              </a:ext>
            </a:extLst>
          </p:cNvPr>
          <p:cNvSpPr/>
          <p:nvPr/>
        </p:nvSpPr>
        <p:spPr>
          <a:xfrm>
            <a:off x="685800" y="2400300"/>
            <a:ext cx="8153401" cy="70866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ea"/>
              </a:rPr>
              <a:t>AstroSage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ea"/>
              </a:rPr>
              <a:t>is a trusted platform for both astrological guidance and advanced research.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ea"/>
              </a:rPr>
              <a:t>It addresses a wide range of needs—from daily life concerns to specialized astrological queries.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ea"/>
              </a:rPr>
              <a:t>The goal is to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ea"/>
              </a:rPr>
              <a:t>support individuals and promote well-being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ea"/>
              </a:rPr>
              <a:t> through the power of astrology.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algn="ctr"/>
            <a:endParaRPr lang="en-IN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51F6DD-5A00-DEAA-8F18-6E839548444F}"/>
              </a:ext>
            </a:extLst>
          </p:cNvPr>
          <p:cNvSpPr/>
          <p:nvPr/>
        </p:nvSpPr>
        <p:spPr>
          <a:xfrm>
            <a:off x="9448800" y="2400300"/>
            <a:ext cx="8382000" cy="708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Founded in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2000 by Pt. Punit Pandey,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AstroSage brings astrological wisdom to the modern world.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Pt. Pandey, an expert in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KP, Lal Kitab, and Nadi astrology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leads a team of skilled astrologers from various traditions.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/>
          <p:nvPr/>
        </p:nvGrpSpPr>
        <p:grpSpPr>
          <a:xfrm rot="5400000">
            <a:off x="8360550" y="-4134604"/>
            <a:ext cx="1335145" cy="10137754"/>
            <a:chOff x="0" y="0"/>
            <a:chExt cx="285629" cy="216877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8006789" y="-4298987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605484" y="137683"/>
            <a:ext cx="10271325" cy="1299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6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CBDF0-8988-03ED-2067-D2D4C2C3AC77}"/>
              </a:ext>
            </a:extLst>
          </p:cNvPr>
          <p:cNvSpPr/>
          <p:nvPr/>
        </p:nvSpPr>
        <p:spPr>
          <a:xfrm>
            <a:off x="609600" y="2019300"/>
            <a:ext cx="5562600" cy="813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Newsreader" panose="02000000000000000000"/>
                <a:cs typeface="Calibri"/>
                <a:sym typeface="Newsreader" panose="02000000000000000000"/>
              </a:rPr>
              <a:t>AstroSage has received a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Newsreader" panose="02000000000000000000"/>
                <a:cs typeface="Calibri"/>
                <a:sym typeface="Newsreader" panose="02000000000000000000"/>
              </a:rPr>
              <a:t>1 crore investment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Newsreader" panose="02000000000000000000"/>
                <a:cs typeface="Calibri"/>
                <a:sym typeface="Newsreader" panose="02000000000000000000"/>
              </a:rPr>
              <a:t> and aims to optimize its call </a:t>
            </a: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Newsreader" panose="02000000000000000000"/>
                <a:cs typeface="Calibri"/>
                <a:sym typeface="Newsreader" panose="02000000000000000000"/>
              </a:rPr>
              <a:t>center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Newsreader" panose="02000000000000000000"/>
                <a:cs typeface="Calibri"/>
                <a:sym typeface="Newsreader" panose="02000000000000000000"/>
              </a:rPr>
              <a:t> operations.</a:t>
            </a:r>
            <a:r>
              <a:rPr kumimoji="0" lang="en-IN" alt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Newsreader" panose="02000000000000000000"/>
                <a:cs typeface="Calibri"/>
                <a:sym typeface="Newsreader" panose="02000000000000000000"/>
              </a:rPr>
              <a:t>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Newsreader" panose="02000000000000000000"/>
                <a:cs typeface="Calibri"/>
                <a:sym typeface="Newsreader" panose="02000000000000000000"/>
              </a:rPr>
              <a:t>The goal is to determine how to allocate this investment to maximize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Newsreader" panose="02000000000000000000"/>
                <a:cs typeface="Calibri"/>
                <a:sym typeface="Newsreader" panose="02000000000000000000"/>
              </a:rPr>
              <a:t> operational efficiency, customer satisfaction, and profitability.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tabLst/>
              <a:defRPr/>
            </a:pPr>
            <a:endParaRPr lang="en-GB" sz="2800" dirty="0">
              <a:solidFill>
                <a:schemeClr val="bg1"/>
              </a:solidFill>
              <a:latin typeface="Calibri"/>
              <a:ea typeface="Newsreader" panose="02000000000000000000"/>
              <a:cs typeface="Calibri"/>
              <a:sym typeface="Newsreader" panose="02000000000000000000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Newsreader" panose="02000000000000000000"/>
                <a:cs typeface="Calibri"/>
                <a:sym typeface="Newsreader" panose="02000000000000000000"/>
              </a:rPr>
              <a:t>The analysis will consider historical call data, performance metrics, and market trends to make informed decisions.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A2B41E-5E15-27EA-15A5-3AA913633E22}"/>
              </a:ext>
            </a:extLst>
          </p:cNvPr>
          <p:cNvSpPr/>
          <p:nvPr/>
        </p:nvSpPr>
        <p:spPr>
          <a:xfrm>
            <a:off x="6400800" y="2019300"/>
            <a:ext cx="11277600" cy="813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C965DB-94C6-6337-B6E7-26A64E7F06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3" t="24815" r="1250" b="10741"/>
          <a:stretch>
            <a:fillRect/>
          </a:stretch>
        </p:blipFill>
        <p:spPr>
          <a:xfrm>
            <a:off x="6836265" y="3144762"/>
            <a:ext cx="10406670" cy="58790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7CE2B-4487-44BE-725B-118F49BF6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>
            <a:extLst>
              <a:ext uri="{FF2B5EF4-FFF2-40B4-BE49-F238E27FC236}">
                <a16:creationId xmlns:a16="http://schemas.microsoft.com/office/drawing/2014/main" id="{0070718C-3469-922D-0DC2-0134AA505E05}"/>
              </a:ext>
            </a:extLst>
          </p:cNvPr>
          <p:cNvGrpSpPr/>
          <p:nvPr/>
        </p:nvGrpSpPr>
        <p:grpSpPr>
          <a:xfrm rot="5400000">
            <a:off x="8476428" y="-4010345"/>
            <a:ext cx="1335145" cy="10137754"/>
            <a:chOff x="0" y="0"/>
            <a:chExt cx="285629" cy="2168778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0C9E9B5-7E3F-3452-8FC3-06BEF53479BD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0F4C1890-474B-400C-4B0B-06FA08A424B2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BEFD41C0-E7CA-BE30-FF00-FD216AC2CCC7}"/>
              </a:ext>
            </a:extLst>
          </p:cNvPr>
          <p:cNvGrpSpPr/>
          <p:nvPr/>
        </p:nvGrpSpPr>
        <p:grpSpPr>
          <a:xfrm rot="5400000">
            <a:off x="8006789" y="-4298987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AE650E2-287C-CE4B-EB8E-261D264F312D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89163293-C64B-E714-B06F-4F79A7A08289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C4067E1A-125C-E41D-D57C-0F1799D3782D}"/>
              </a:ext>
            </a:extLst>
          </p:cNvPr>
          <p:cNvSpPr txBox="1"/>
          <p:nvPr/>
        </p:nvSpPr>
        <p:spPr>
          <a:xfrm>
            <a:off x="3605483" y="114300"/>
            <a:ext cx="10271324" cy="1299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6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24D7FF-2B5B-C703-C4B5-26CA8586BDDC}"/>
              </a:ext>
            </a:extLst>
          </p:cNvPr>
          <p:cNvSpPr/>
          <p:nvPr/>
        </p:nvSpPr>
        <p:spPr>
          <a:xfrm>
            <a:off x="100781" y="1777976"/>
            <a:ext cx="18111019" cy="8509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_id: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Unique identifier for each record.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chatStatus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: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 Status of the chat (e.g., incomplete, failed, completed).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guru: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 Unique identifier for the guru.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guruName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: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 Name of the guru.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gid: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Guru ID.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uid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: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 User ID.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consultation Type: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 Type of consultation (e.g., Chat, Call).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website: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 Source of the consultation (e.g.,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gurucool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).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chat Seconds: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 Duration of the chat in seconds.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Lato" panose="020F0502020204030203"/>
              <a:cs typeface="Calibri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CreatedAT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: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Lato" panose="020F0502020204030203"/>
                <a:cs typeface="Calibri"/>
                <a:sym typeface="+mn-ea"/>
              </a:rPr>
              <a:t> Original creation date and time.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Calibri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+mn-ea"/>
              </a:rPr>
              <a:t>callChannel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+mn-ea"/>
              </a:rPr>
              <a:t>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+mn-ea"/>
              </a:rPr>
              <a:t> Channel used for the call.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Calibri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+mn-ea"/>
              </a:rPr>
              <a:t>calIvrType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+mn-ea"/>
              </a:rPr>
              <a:t>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+mn-ea"/>
              </a:rPr>
              <a:t> IVR type used during the call.</a:t>
            </a: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 err="1">
                <a:solidFill>
                  <a:schemeClr val="bg1"/>
                </a:solidFill>
                <a:latin typeface="Calibri"/>
                <a:cs typeface="Calibri"/>
                <a:sym typeface="+mn-ea"/>
              </a:rPr>
              <a:t>callStatus</a:t>
            </a:r>
            <a:r>
              <a:rPr lang="en-US" altLang="en-US" sz="2400" b="1" dirty="0">
                <a:solidFill>
                  <a:schemeClr val="bg1"/>
                </a:solidFill>
                <a:latin typeface="Calibri"/>
                <a:cs typeface="Calibri"/>
                <a:sym typeface="+mn-ea"/>
              </a:rPr>
              <a:t>:</a:t>
            </a:r>
            <a:r>
              <a:rPr lang="en-US" altLang="en-US" sz="2400" dirty="0">
                <a:solidFill>
                  <a:schemeClr val="bg1"/>
                </a:solidFill>
                <a:latin typeface="Calibri"/>
                <a:cs typeface="Calibri"/>
                <a:sym typeface="+mn-ea"/>
              </a:rPr>
              <a:t> Status of the call.</a:t>
            </a:r>
            <a:endParaRPr lang="en-US" altLang="zh-CN" sz="2400" dirty="0">
              <a:solidFill>
                <a:schemeClr val="bg1"/>
              </a:solidFill>
              <a:latin typeface="Calibri"/>
              <a:ea typeface="Lato" panose="020F0502020204030203"/>
              <a:cs typeface="Calibri"/>
            </a:endParaRP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 err="1">
                <a:solidFill>
                  <a:schemeClr val="bg1"/>
                </a:solidFill>
                <a:latin typeface="Calibri"/>
                <a:cs typeface="Calibri"/>
              </a:rPr>
              <a:t>CallSid</a:t>
            </a:r>
            <a:r>
              <a:rPr lang="en-US" altLang="en-US" sz="2400" b="1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r>
              <a:rPr lang="en-US" altLang="en-US" sz="2400" dirty="0">
                <a:solidFill>
                  <a:schemeClr val="bg1"/>
                </a:solidFill>
                <a:latin typeface="Calibri"/>
                <a:cs typeface="Calibri"/>
              </a:rPr>
              <a:t> Unique identifier for the call session.</a:t>
            </a: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schemeClr val="bg1"/>
                </a:solidFill>
                <a:latin typeface="Calibri"/>
                <a:cs typeface="Calibri"/>
              </a:rPr>
              <a:t>amount:</a:t>
            </a:r>
            <a:r>
              <a:rPr lang="en-US" altLang="en-US" sz="2400" dirty="0">
                <a:solidFill>
                  <a:schemeClr val="bg1"/>
                </a:solidFill>
                <a:latin typeface="Calibri"/>
                <a:cs typeface="Calibri"/>
              </a:rPr>
              <a:t> Amount charged for the session.</a:t>
            </a: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 err="1">
                <a:solidFill>
                  <a:schemeClr val="bg1"/>
                </a:solidFill>
                <a:latin typeface="Calibri"/>
                <a:cs typeface="Calibri"/>
              </a:rPr>
              <a:t>astrologerCallStatus</a:t>
            </a:r>
            <a:r>
              <a:rPr lang="en-US" altLang="en-US" sz="2400" b="1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r>
              <a:rPr lang="en-US" altLang="en-US" sz="2400" dirty="0">
                <a:solidFill>
                  <a:schemeClr val="bg1"/>
                </a:solidFill>
                <a:latin typeface="Calibri"/>
                <a:cs typeface="Calibri"/>
              </a:rPr>
              <a:t> Status of the astrologer during the call.</a:t>
            </a: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 err="1">
                <a:solidFill>
                  <a:schemeClr val="bg1"/>
                </a:solidFill>
                <a:latin typeface="Calibri"/>
                <a:cs typeface="Calibri"/>
              </a:rPr>
              <a:t>astrologerOnCallDuration</a:t>
            </a:r>
            <a:r>
              <a:rPr lang="en-US" altLang="en-US" sz="2400" b="1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r>
              <a:rPr lang="en-US" altLang="en-US" sz="2400" dirty="0">
                <a:solidFill>
                  <a:schemeClr val="bg1"/>
                </a:solidFill>
                <a:latin typeface="Calibri"/>
                <a:cs typeface="Calibri"/>
              </a:rPr>
              <a:t> Duration of the astrologer's call.</a:t>
            </a: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 err="1">
                <a:solidFill>
                  <a:schemeClr val="bg1"/>
                </a:solidFill>
                <a:latin typeface="Calibri"/>
                <a:cs typeface="Calibri"/>
              </a:rPr>
              <a:t>astrologersEarnings</a:t>
            </a:r>
            <a:r>
              <a:rPr lang="en-US" altLang="en-US" sz="2400" b="1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r>
              <a:rPr lang="en-US" altLang="en-US" sz="2400" dirty="0">
                <a:solidFill>
                  <a:schemeClr val="bg1"/>
                </a:solidFill>
                <a:latin typeface="Calibri"/>
                <a:cs typeface="Calibri"/>
              </a:rPr>
              <a:t> Earnings of the astrologer from the session.</a:t>
            </a: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 err="1">
                <a:solidFill>
                  <a:schemeClr val="bg1"/>
                </a:solidFill>
                <a:latin typeface="Calibri"/>
                <a:cs typeface="Calibri"/>
              </a:rPr>
              <a:t>netAmount</a:t>
            </a:r>
            <a:r>
              <a:rPr lang="en-US" altLang="en-US" sz="2400" b="1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r>
              <a:rPr lang="en-US" altLang="en-US" sz="2400" dirty="0">
                <a:solidFill>
                  <a:schemeClr val="bg1"/>
                </a:solidFill>
                <a:latin typeface="Calibri"/>
                <a:cs typeface="Calibri"/>
              </a:rPr>
              <a:t> Net amount after deductions.</a:t>
            </a: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schemeClr val="bg1"/>
                </a:solidFill>
                <a:latin typeface="Calibri"/>
                <a:cs typeface="Calibri"/>
              </a:rPr>
              <a:t>region:</a:t>
            </a:r>
            <a:r>
              <a:rPr lang="en-US" altLang="en-US" sz="2400" dirty="0">
                <a:solidFill>
                  <a:schemeClr val="bg1"/>
                </a:solidFill>
                <a:latin typeface="Calibri"/>
                <a:cs typeface="Calibri"/>
              </a:rPr>
              <a:t> Region of the user.</a:t>
            </a: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 err="1">
                <a:solidFill>
                  <a:schemeClr val="bg1"/>
                </a:solidFill>
                <a:latin typeface="Calibri"/>
                <a:cs typeface="Calibri"/>
              </a:rPr>
              <a:t>userCallStatus</a:t>
            </a:r>
            <a:r>
              <a:rPr lang="en-US" altLang="en-US" sz="2400" b="1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r>
              <a:rPr lang="en-US" altLang="en-US" sz="2400" dirty="0">
                <a:solidFill>
                  <a:schemeClr val="bg1"/>
                </a:solidFill>
                <a:latin typeface="Calibri"/>
                <a:cs typeface="Calibri"/>
              </a:rPr>
              <a:t> Status of the user's call.</a:t>
            </a: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 err="1">
                <a:solidFill>
                  <a:schemeClr val="bg1"/>
                </a:solidFill>
                <a:latin typeface="Calibri"/>
                <a:cs typeface="Calibri"/>
              </a:rPr>
              <a:t>userOnCallDuration</a:t>
            </a:r>
            <a:r>
              <a:rPr lang="en-US" altLang="en-US" sz="2400" b="1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r>
              <a:rPr lang="en-US" altLang="en-US" sz="2400" dirty="0">
                <a:solidFill>
                  <a:schemeClr val="bg1"/>
                </a:solidFill>
                <a:latin typeface="Calibri"/>
                <a:cs typeface="Calibri"/>
              </a:rPr>
              <a:t> Duration of the user's call.</a:t>
            </a: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57200" lvl="0" indent="-4572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b="1" dirty="0">
                <a:solidFill>
                  <a:schemeClr val="bg1"/>
                </a:solidFill>
                <a:latin typeface="Calibri"/>
                <a:cs typeface="Calibri"/>
              </a:rPr>
              <a:t>rating:</a:t>
            </a:r>
            <a:r>
              <a:rPr lang="en-US" altLang="en-US" sz="2400" dirty="0">
                <a:solidFill>
                  <a:schemeClr val="bg1"/>
                </a:solidFill>
                <a:latin typeface="Calibri"/>
                <a:cs typeface="Calibri"/>
              </a:rPr>
              <a:t> Rating assigned based on the session's status.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263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 rot="5400000">
            <a:off x="7871065" y="-4038691"/>
            <a:ext cx="1335145" cy="10137754"/>
            <a:chOff x="0" y="0"/>
            <a:chExt cx="285629" cy="2168778"/>
          </a:xfrm>
          <a:solidFill>
            <a:srgbClr val="FFC000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7677905" y="-4287004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276599" y="114300"/>
            <a:ext cx="10271325" cy="1299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6600" b="1" dirty="0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365DF6-3688-49FD-37F7-87A3C7BB8A0A}"/>
              </a:ext>
            </a:extLst>
          </p:cNvPr>
          <p:cNvSpPr/>
          <p:nvPr/>
        </p:nvSpPr>
        <p:spPr>
          <a:xfrm>
            <a:off x="838200" y="2403271"/>
            <a:ext cx="16535400" cy="51024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457200" marR="0" lvl="0" indent="-45720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  <a:r>
              <a:rPr kumimoji="0" lang="en-I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Data Enrichment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defTabSz="9144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Utilized functions and 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 Duplicates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ensure data consistency and accuracy across the dataset.</a:t>
            </a:r>
            <a:r>
              <a:rPr kumimoji="0" lang="en-I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kumimoji="0" lang="en-I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By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using I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F/ELSE logic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effectively cross-referencing external data sources for deeper insights.</a:t>
            </a:r>
          </a:p>
          <a:p>
            <a:pPr marL="914400" lvl="1" indent="-457200" defTabSz="9144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457200" indent="-4572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Descriptive Analysis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Leveraged Pivot Tables to summarize key performance metrics and identify correlations and patterns across product categories and KPIs.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SORT and FILTER functions to categorize customers based on consultant type and interaction duration, enabling targeted strategy development.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Visualization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dynamic dashboards and interactive charts, allowing stakeholders to explore data visually and derive actionable insights efficiently.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 rot="5400000">
            <a:off x="8744704" y="-4061912"/>
            <a:ext cx="1335146" cy="10137754"/>
            <a:chOff x="0" y="0"/>
            <a:chExt cx="285629" cy="21687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8388681" y="-4305077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029297" y="114300"/>
            <a:ext cx="10229405" cy="1263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5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OPERATIONAL EFFICIENCY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B1C7CFE0-CA62-29E1-B51F-48879A00F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129254"/>
            <a:ext cx="12954000" cy="75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 Calls Analyzed: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8,366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	Filtered by Consultation_Type =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"Call“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 of Agents (Gurus):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148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	(Unique astrologers who handled calls)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 of Operational Days: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34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	(Based on unique created dates)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Average Calls per Day</a:t>
            </a: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8366 / 34 ≈ 249.73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Average Calls per Agent per Day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249.73 / 148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≈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1.68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Each agent handled fewer than 2 calls per day on average, indicating low utilization.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Suggests scope for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load balancing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optimized shift planning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fewer idle resources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Suggestions:</a:t>
            </a:r>
            <a:endParaRPr lang="en-US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Optimize staff usage and load balancing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Consider reducing idle resources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C2BD044-3008-603B-AF56-C39129515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6" t="5926" r="39558" b="83175"/>
          <a:stretch>
            <a:fillRect/>
          </a:stretch>
        </p:blipFill>
        <p:spPr>
          <a:xfrm>
            <a:off x="7010400" y="3427359"/>
            <a:ext cx="11138752" cy="133514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3" name="Rectangle 2">
            <a:extLst>
              <a:ext uri="{FF2B5EF4-FFF2-40B4-BE49-F238E27FC236}">
                <a16:creationId xmlns:a16="http://schemas.microsoft.com/office/drawing/2014/main" id="{90520B43-6667-B340-69DE-71C4EC2C7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802" y="-701521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=COUNTIF()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 counting calls and unique agents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=AVERAGE()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=COUNTA(DISTINCT())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(or Power Pivot)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Calculations for per-day and per-agent stats</a:t>
            </a:r>
          </a:p>
        </p:txBody>
      </p:sp>
    </p:spTree>
    <p:extLst>
      <p:ext uri="{BB962C8B-B14F-4D97-AF65-F5344CB8AC3E}">
        <p14:creationId xmlns:p14="http://schemas.microsoft.com/office/powerpoint/2010/main" val="50013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EEAAC-7132-DBF6-E210-BFCE617A4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E7D7068A-0831-92F9-7DE1-C0541CE2FB37}"/>
              </a:ext>
            </a:extLst>
          </p:cNvPr>
          <p:cNvGrpSpPr/>
          <p:nvPr/>
        </p:nvGrpSpPr>
        <p:grpSpPr>
          <a:xfrm rot="5400000">
            <a:off x="8744704" y="-4061912"/>
            <a:ext cx="1335146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24E1FC1-B61A-E355-96E4-D33BD038E8A6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665585A-3AF3-F085-C633-B38B0E211512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3AEA3FA-AC9C-0A4C-80FB-DB520616B2C5}"/>
              </a:ext>
            </a:extLst>
          </p:cNvPr>
          <p:cNvGrpSpPr/>
          <p:nvPr/>
        </p:nvGrpSpPr>
        <p:grpSpPr>
          <a:xfrm rot="5400000">
            <a:off x="8388681" y="-4305077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ADDA6B4-E09A-9826-8ED7-78755A56188F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79EFEA7-B24D-F010-3EB4-1511FCF4C113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5891F45-9E25-65D9-3543-EED5558E5BF7}"/>
              </a:ext>
            </a:extLst>
          </p:cNvPr>
          <p:cNvSpPr txBox="1"/>
          <p:nvPr/>
        </p:nvSpPr>
        <p:spPr>
          <a:xfrm>
            <a:off x="3873744" y="63620"/>
            <a:ext cx="10451856" cy="1233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5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REPEAT CALLER BEHAVIOR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A5D5D383-40D3-C292-B06F-DF851373C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802" y="-701521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=COUNTIF()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 counting calls and unique agents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=AVERAGE()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=COUNTA(DISTINCT())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(or Power Pivot)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Calculations for per-day and per-agent stats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F069FA-F413-A50C-8071-19A3C99FD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05" y="2725251"/>
            <a:ext cx="18032395" cy="72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 Unique Callers: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3,629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 Repeat Callers: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1,276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(Users who made more than one call)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Repeat Callers % of Total Users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(1276 / 3629) * 100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35.16%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 Calls by Repeat Users: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6,139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Exact Repeated Call Except first call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= 6139 – 1276 </a:t>
            </a: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= 4863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Contribution to Total Calls</a:t>
            </a: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(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4863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/ 8491) * 100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57.27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small segment of loyal users (35%) is generating the majority of business (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57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% of calls).</a:t>
            </a:r>
            <a:endParaRPr lang="en-US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highlights the importance of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retention strategies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loyalty programs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quality service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repeat customers.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Case: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Helps target marketing, support, and upselling efforts towards loyal users.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BF4562-5826-C6A6-B909-AFB47C725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" t="26296" r="53333" b="10741"/>
          <a:stretch>
            <a:fillRect/>
          </a:stretch>
        </p:blipFill>
        <p:spPr>
          <a:xfrm>
            <a:off x="10186202" y="1782629"/>
            <a:ext cx="7949398" cy="6256471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7781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459B3-C129-AD54-4BEC-70F817B17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CD8FA42C-3093-377D-B3F7-9F8313BA3925}"/>
              </a:ext>
            </a:extLst>
          </p:cNvPr>
          <p:cNvGrpSpPr/>
          <p:nvPr/>
        </p:nvGrpSpPr>
        <p:grpSpPr>
          <a:xfrm rot="5400000">
            <a:off x="8744704" y="-4061912"/>
            <a:ext cx="1335146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6E3B286-882F-3DCE-A502-785F89F62A50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F20E744-2966-F3E9-CF7E-9AA60D9EF381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2D88138-9703-6B4F-176D-92FB0851CE73}"/>
              </a:ext>
            </a:extLst>
          </p:cNvPr>
          <p:cNvGrpSpPr/>
          <p:nvPr/>
        </p:nvGrpSpPr>
        <p:grpSpPr>
          <a:xfrm rot="5400000">
            <a:off x="8388681" y="-4305077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0D20927-B7C3-C31E-1844-BB9ACCC5EB7A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AF175FD-A5EC-339F-8106-08263601E9F8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433A40A2-7C21-4D77-5574-F0A0F6F17EA7}"/>
              </a:ext>
            </a:extLst>
          </p:cNvPr>
          <p:cNvSpPr txBox="1"/>
          <p:nvPr/>
        </p:nvSpPr>
        <p:spPr>
          <a:xfrm>
            <a:off x="3987375" y="100470"/>
            <a:ext cx="10271325" cy="1233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5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REVENUE GENERATION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2DD85B1C-1CFF-D0CE-5B47-7649BB123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802" y="-701521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=COUNTIF()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 counting calls and unique agents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=AVERAGE()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=COUNTA(DISTINCT())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(or Power Pivot)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Calculations for per-day and per-agent stats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3E56DD-8C3F-DC49-9B80-464426499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247" y="9401818"/>
            <a:ext cx="1447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A66559-C595-B17F-B9B7-D7847EC6E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324100"/>
            <a:ext cx="17830800" cy="72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 from Call services: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₹1,68,442.04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 from Chat services: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₹45,494.68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Combined revenue (Call + Chat):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₹2,13,936.72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cost (Astrologer payout for December 2023):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₹99,146.57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distribution: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Calls contribute 78.71% of total revenue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Chats contribute 21.29%</a:t>
            </a:r>
            <a:r>
              <a:rPr lang="en-US" altLang="en-US" sz="2200" dirty="0">
                <a:latin typeface="Arial" panose="020B0604020202020204" pitchFamily="34" charset="0"/>
              </a:rPr>
              <a:t> of total revenue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 services generate the majority of income.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profitability, optimization should focus on improving call handling, reducing drop-offs, and managing astrologer payouts efficiently.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4A5CE65-B260-163E-ACDD-58ED25554E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3877576"/>
              </p:ext>
            </p:extLst>
          </p:nvPr>
        </p:nvGraphicFramePr>
        <p:xfrm>
          <a:off x="11430001" y="1825265"/>
          <a:ext cx="6553199" cy="6290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95201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 rot="5400000">
            <a:off x="8268677" y="-3990031"/>
            <a:ext cx="1335145" cy="10137754"/>
            <a:chOff x="0" y="0"/>
            <a:chExt cx="285629" cy="21687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8135105" y="-4210804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>
                <a:highlight>
                  <a:srgbClr val="008080"/>
                </a:highlight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733800" y="190500"/>
            <a:ext cx="10271325" cy="1299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6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CALL VOLUME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46CC400B-FC87-8131-E650-064947F6A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1" y="2037912"/>
            <a:ext cx="9753600" cy="72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Duration Analyzed: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34 Days (Dec 2023 – Jan 2024)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Daily Call Volume: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~249 calls/day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Day: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 Dec 2023 – 430 Calls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Day: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03 Jan 2024 – 107 Calls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Monthly Call Volume</a:t>
            </a:r>
            <a:r>
              <a:rPr lang="en-US" altLang="en-US" sz="2200" b="1" dirty="0">
                <a:latin typeface="Arial" panose="020B0604020202020204" pitchFamily="34" charset="0"/>
              </a:rPr>
              <a:t> –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December 2023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8,073 calls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Monthly Call Volume</a:t>
            </a:r>
            <a:r>
              <a:rPr lang="en-US" altLang="en-US" sz="2200" b="1" dirty="0">
                <a:latin typeface="Arial" panose="020B0604020202020204" pitchFamily="34" charset="0"/>
              </a:rPr>
              <a:t> –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January 2024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418 calls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Understanding high-traffic periods helps in staffing, scheduling, and resource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Lato" panose="020F0502020204030203"/>
                <a:cs typeface="Arial" panose="020B0604020202020204" pitchFamily="34" charset="0"/>
              </a:rPr>
              <a:t>Suggestions</a:t>
            </a:r>
            <a:endParaRPr lang="en-US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Lato" panose="020F0502020204030203"/>
                <a:cs typeface="Arial" panose="020B0604020202020204" pitchFamily="34" charset="0"/>
              </a:rPr>
              <a:t>Align resources and agent shifts with peak periods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Lato" panose="020F0502020204030203"/>
                <a:cs typeface="Arial" panose="020B0604020202020204" pitchFamily="34" charset="0"/>
              </a:rPr>
              <a:t>Launch promotions in high-engagement windows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Lato" panose="020F0502020204030203"/>
                <a:cs typeface="Arial" panose="020B0604020202020204" pitchFamily="34" charset="0"/>
              </a:rPr>
              <a:t>Review low days to identify operational or engagement gaps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Lato" panose="020F0502020204030203"/>
                <a:cs typeface="Arial" panose="020B0604020202020204" pitchFamily="34" charset="0"/>
              </a:rPr>
              <a:t>Use averages &amp; spikes for future workload forecasting</a:t>
            </a: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949562CC-B7A7-C184-A75B-4FCB799414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6600738"/>
              </p:ext>
            </p:extLst>
          </p:nvPr>
        </p:nvGraphicFramePr>
        <p:xfrm>
          <a:off x="9448800" y="1806660"/>
          <a:ext cx="8458200" cy="8289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8C978-0A08-24A3-CBE5-093BA626D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7BC391BF-D6FD-E17F-94D5-A23345FD33FD}"/>
              </a:ext>
            </a:extLst>
          </p:cNvPr>
          <p:cNvGrpSpPr/>
          <p:nvPr/>
        </p:nvGrpSpPr>
        <p:grpSpPr>
          <a:xfrm rot="5400000">
            <a:off x="8268677" y="-3990031"/>
            <a:ext cx="1335145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AC75FA5-FCB0-5A16-0908-2AA9F9801AEB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E30047C-4855-3CE8-3750-43430A950BB4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61E9012-A101-3516-697F-ED0C899627BA}"/>
              </a:ext>
            </a:extLst>
          </p:cNvPr>
          <p:cNvGrpSpPr/>
          <p:nvPr/>
        </p:nvGrpSpPr>
        <p:grpSpPr>
          <a:xfrm rot="5400000">
            <a:off x="8135105" y="-4210804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2A068CE-3A7A-E249-D51E-9E53E3DEEFA9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0337A6F-5C52-60D7-531B-BCA92FA873AC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>
                <a:highlight>
                  <a:srgbClr val="008080"/>
                </a:highlight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B3324EC-CD0D-DA8D-F16C-93AD5516D654}"/>
              </a:ext>
            </a:extLst>
          </p:cNvPr>
          <p:cNvSpPr txBox="1"/>
          <p:nvPr/>
        </p:nvSpPr>
        <p:spPr>
          <a:xfrm>
            <a:off x="3747951" y="190500"/>
            <a:ext cx="10271325" cy="1263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548"/>
              </a:lnSpc>
            </a:pPr>
            <a:r>
              <a:rPr lang="en-US" sz="6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REVENUE BREAKDOWN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FE848183-CF6C-B452-7114-10980E9C5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76" y="2082343"/>
            <a:ext cx="11033324" cy="7786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Pointers:
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Calls contribute ~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79% of total revenue; Chats only ~21%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Focus on improving call handling, reducing drop-offs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Revamp chat services to increase monetization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(UI / UX + AI chatbots)</a:t>
            </a:r>
          </a:p>
          <a:p>
            <a:pPr marL="342900" indent="-342900">
              <a:buFontTx/>
              <a:buChar char="-"/>
              <a:defRPr sz="1200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  <a:defRPr sz="1200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  <a:defRPr sz="1200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  <a:defRPr sz="1200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Recommendations:</a:t>
            </a:r>
          </a:p>
          <a:p>
            <a:endParaRPr lang="en-IN" sz="24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Since </a:t>
            </a:r>
            <a:r>
              <a:rPr lang="en-IN" sz="2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Calls contribute ~ 79% of total revenue</a:t>
            </a:r>
            <a:r>
              <a:rPr lang="en-IN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prioritize: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Reducing dropped/missed calls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Improving agent availability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Evaluate </a:t>
            </a:r>
            <a:r>
              <a:rPr lang="en-IN" sz="2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why Chats underperform</a:t>
            </a:r>
            <a:r>
              <a:rPr lang="en-IN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(UI, response time, platform issues).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Consider bundling services to push chat sales (e.g., "Chat + Call" packages).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7E3E6AD-E8DF-1C78-4E0D-C00EBC227E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3383819"/>
              </p:ext>
            </p:extLst>
          </p:nvPr>
        </p:nvGraphicFramePr>
        <p:xfrm>
          <a:off x="12115800" y="2284434"/>
          <a:ext cx="6019800" cy="4078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81114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3205-D0CE-4C52-2390-BA146140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D2D6FDE0-1F26-F3E6-997D-7A2434CDEAAC}"/>
              </a:ext>
            </a:extLst>
          </p:cNvPr>
          <p:cNvGrpSpPr/>
          <p:nvPr/>
        </p:nvGrpSpPr>
        <p:grpSpPr>
          <a:xfrm rot="5400000">
            <a:off x="8268677" y="-3990031"/>
            <a:ext cx="1335145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88F694D-65C7-9EE6-B554-F598FBD3F300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C707306-DC53-ABE2-B285-D058DF8C4EE5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6A80A66-1540-0637-CFB2-38A0DC8D6876}"/>
              </a:ext>
            </a:extLst>
          </p:cNvPr>
          <p:cNvGrpSpPr/>
          <p:nvPr/>
        </p:nvGrpSpPr>
        <p:grpSpPr>
          <a:xfrm rot="5400000">
            <a:off x="8135105" y="-4210804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2624D7E-143D-7A6B-EFB3-3308C481213A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9A091A3-BBE3-0BF0-DD2E-D433915A5D95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>
                <a:highlight>
                  <a:srgbClr val="008080"/>
                </a:highlight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E96991F-5CF6-9F52-AF35-0B8755498BD0}"/>
              </a:ext>
            </a:extLst>
          </p:cNvPr>
          <p:cNvSpPr txBox="1"/>
          <p:nvPr/>
        </p:nvSpPr>
        <p:spPr>
          <a:xfrm>
            <a:off x="3733799" y="190500"/>
            <a:ext cx="10271325" cy="1286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6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AVERAGE RATING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4C13F7AF-C61A-3BEC-890E-5783AD8F7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099469"/>
            <a:ext cx="10439399" cy="7078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Pointers:
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Average ratings dropped from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Dec (2.9) to Jan (2.7)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Top-rated astrologers: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Astro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Pujaa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Rai, Tarot Mystical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Provide targeted training to low-rated astrologers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Monitor ratings over time to ensure quality improvement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Recommendations: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Identify low-rated astrologers and provide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targeted training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Track rating changes post-training for impact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Note: Longer calls ≠ better ratings. Focus on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call quality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not duration.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B033AFD-172F-460F-B248-5B5D34FD46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6829988"/>
              </p:ext>
            </p:extLst>
          </p:nvPr>
        </p:nvGraphicFramePr>
        <p:xfrm>
          <a:off x="9296400" y="2097158"/>
          <a:ext cx="8839200" cy="533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36559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8CC2-9DE2-6445-A967-91FE90335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833DDEE3-8803-951D-C594-A137E381C480}"/>
              </a:ext>
            </a:extLst>
          </p:cNvPr>
          <p:cNvGrpSpPr/>
          <p:nvPr/>
        </p:nvGrpSpPr>
        <p:grpSpPr>
          <a:xfrm rot="5400000">
            <a:off x="8268677" y="-3990031"/>
            <a:ext cx="1335145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3BE5FFD-5B58-6F3F-A74B-783E6224AC9B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5035DF7-12FA-F6C3-EB60-1FD308198905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BEF3103-C463-1FAF-BD41-3D91B3F6E854}"/>
              </a:ext>
            </a:extLst>
          </p:cNvPr>
          <p:cNvGrpSpPr/>
          <p:nvPr/>
        </p:nvGrpSpPr>
        <p:grpSpPr>
          <a:xfrm rot="5400000">
            <a:off x="8135105" y="-4210804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0904442-41A8-8DF7-2F0F-A639B4CB850D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0E2966A-F188-6203-BE08-6181FA784D10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>
                <a:highlight>
                  <a:srgbClr val="008080"/>
                </a:highlight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EF0F5082-E181-11F7-7454-B2A64402E223}"/>
              </a:ext>
            </a:extLst>
          </p:cNvPr>
          <p:cNvSpPr txBox="1"/>
          <p:nvPr/>
        </p:nvSpPr>
        <p:spPr>
          <a:xfrm>
            <a:off x="4761421" y="351032"/>
            <a:ext cx="8349655" cy="1299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7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CALL STATUS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4AA615B4-9DCC-A9B9-46D6-32335B285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61025"/>
            <a:ext cx="10271325" cy="69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Pointers:
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Only ~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40.77% of booked calls are completed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High drop – off rate signals need for UI fixes and reminder systems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Assign backup astrologers to reduce missed call loss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Only ~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41% of booked calls are completed</a:t>
            </a:r>
          </a:p>
          <a:p>
            <a:pPr lvl="1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→ major efficiency gap.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Improve UI / UX of call booking flow to reduce drop – offs.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IVR reminders and backup astrologers for missed sessions.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A095368-6DB3-42AC-83AA-8EF740926C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6544637"/>
              </p:ext>
            </p:extLst>
          </p:nvPr>
        </p:nvGraphicFramePr>
        <p:xfrm>
          <a:off x="10744200" y="2197134"/>
          <a:ext cx="7391400" cy="3936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54008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BAE77-6E34-001C-3B88-C113A983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ED7B0884-EDC3-7FE8-0F74-DE6140571EF2}"/>
              </a:ext>
            </a:extLst>
          </p:cNvPr>
          <p:cNvGrpSpPr/>
          <p:nvPr/>
        </p:nvGrpSpPr>
        <p:grpSpPr>
          <a:xfrm rot="5400000">
            <a:off x="8268677" y="-3990031"/>
            <a:ext cx="1335145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5375037-443A-CB37-6D7A-B6ED7537C3D3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4E6E2A4-F887-0FEC-AD20-DD196A8F0014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D741857-6B4E-84B2-1808-24AD3BB627C3}"/>
              </a:ext>
            </a:extLst>
          </p:cNvPr>
          <p:cNvGrpSpPr/>
          <p:nvPr/>
        </p:nvGrpSpPr>
        <p:grpSpPr>
          <a:xfrm rot="5400000">
            <a:off x="8135105" y="-4210804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D7FE39E-55AC-AE73-7DF9-AA2FB50A7DA3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733C176-156E-85D5-F36A-1DEE07C274DA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>
                <a:highlight>
                  <a:srgbClr val="008080"/>
                </a:highlight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E5AB706-61D8-4AE1-40A4-DF1F9B64A1E1}"/>
              </a:ext>
            </a:extLst>
          </p:cNvPr>
          <p:cNvSpPr txBox="1"/>
          <p:nvPr/>
        </p:nvSpPr>
        <p:spPr>
          <a:xfrm>
            <a:off x="3733799" y="190500"/>
            <a:ext cx="10271325" cy="1263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IN" sz="6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CONSULTATION TYPE</a:t>
            </a:r>
            <a:endParaRPr lang="en-US" sz="6600" b="1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C51EF887-BEC3-68C7-0836-BC9D09092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86100"/>
            <a:ext cx="10972799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Key Pointers:</a:t>
            </a:r>
          </a:p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200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Calls generate more revenue ,</a:t>
            </a:r>
          </a:p>
          <a:p>
            <a:pPr lvl="1">
              <a:defRPr sz="1200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Chats have higher volume</a:t>
            </a:r>
          </a:p>
          <a:p>
            <a:pPr marL="457200" indent="-457200">
              <a:buFont typeface="Arial" panose="020B0604020202020204" pitchFamily="34" charset="0"/>
              <a:buChar char="•"/>
              <a:defRPr sz="1200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200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Upgrade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Gurucool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chat UI to improve satisfaction and retention</a:t>
            </a:r>
          </a:p>
          <a:p>
            <a:pPr marL="457200" indent="-457200">
              <a:buFont typeface="Arial" panose="020B0604020202020204" pitchFamily="34" charset="0"/>
              <a:buChar char="•"/>
              <a:defRPr sz="1200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200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Introduce AI bots to handle basic queries instantly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BC7A77C-20DF-4AF6-AA66-E96F502953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1914473"/>
              </p:ext>
            </p:extLst>
          </p:nvPr>
        </p:nvGraphicFramePr>
        <p:xfrm>
          <a:off x="11353800" y="2169984"/>
          <a:ext cx="6781800" cy="5259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9474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CB012-EDE6-4F0D-E09F-D39ADA72B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DEC4B1A5-A3BE-C3F1-B3A9-CE60A22E5EFA}"/>
              </a:ext>
            </a:extLst>
          </p:cNvPr>
          <p:cNvGrpSpPr/>
          <p:nvPr/>
        </p:nvGrpSpPr>
        <p:grpSpPr>
          <a:xfrm rot="5400000">
            <a:off x="8268677" y="-3990031"/>
            <a:ext cx="1335145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46DD1F7-1FF5-DF53-7B19-CE3F13B41077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C9CE782-1F3C-B6A6-54BB-7C67B1A06621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D8A5A19-336A-1C34-CCD9-7CE8FBB7814F}"/>
              </a:ext>
            </a:extLst>
          </p:cNvPr>
          <p:cNvGrpSpPr/>
          <p:nvPr/>
        </p:nvGrpSpPr>
        <p:grpSpPr>
          <a:xfrm rot="5400000">
            <a:off x="8135105" y="-4210804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15D34DE-DC7D-ACA7-F19C-67A4C4438807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6BCE986-DEED-5E85-FE38-73B3E1DE59DA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>
                <a:highlight>
                  <a:srgbClr val="008080"/>
                </a:highlight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28BC213-7F41-DD58-5A11-32C46B57380F}"/>
              </a:ext>
            </a:extLst>
          </p:cNvPr>
          <p:cNvSpPr txBox="1"/>
          <p:nvPr/>
        </p:nvSpPr>
        <p:spPr>
          <a:xfrm>
            <a:off x="3733799" y="190500"/>
            <a:ext cx="10271325" cy="1263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IN" sz="6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HOURLY CALL VOLUME</a:t>
            </a:r>
            <a:endParaRPr lang="en-US" sz="6600" b="1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7467E8DD-31C2-8F97-35AE-E07F1E017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850053"/>
            <a:ext cx="1760219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Pointers:
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Peak traffic hours must guide staffing decisions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Balance load to avoid burnout and long wait times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Use this to optimize agent scheduling.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Introduce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freelancers or part – timers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during peak hours.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Cross-reference with satisfaction to avoid quality dips during rush periods.</a:t>
            </a:r>
            <a:endParaRPr lang="en-US" altLang="en-US" sz="22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EF56D7F-12BA-4755-B6DA-B7D7AF6A3B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9816638"/>
              </p:ext>
            </p:extLst>
          </p:nvPr>
        </p:nvGraphicFramePr>
        <p:xfrm>
          <a:off x="1143000" y="5143500"/>
          <a:ext cx="16459200" cy="4852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4862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76FC-FE3E-513C-C5B6-108A74599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C68CA232-5CB0-44D2-EC20-F5044034842B}"/>
              </a:ext>
            </a:extLst>
          </p:cNvPr>
          <p:cNvGrpSpPr/>
          <p:nvPr/>
        </p:nvGrpSpPr>
        <p:grpSpPr>
          <a:xfrm rot="5400000">
            <a:off x="8268677" y="-3990031"/>
            <a:ext cx="1335145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5B2C80F-C16D-06DF-4D42-784BF0387EE3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2997B34-D027-6472-7819-CECEDF2CC907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95C410E-EF8C-CE07-07E9-9CBDCFE2E6EC}"/>
              </a:ext>
            </a:extLst>
          </p:cNvPr>
          <p:cNvGrpSpPr/>
          <p:nvPr/>
        </p:nvGrpSpPr>
        <p:grpSpPr>
          <a:xfrm rot="5400000">
            <a:off x="8135105" y="-4210804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5BE6A80-64F2-57F2-77EC-0161BD7E6971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0402823-9E02-84B4-A402-AE2280CC64B2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>
                <a:highlight>
                  <a:srgbClr val="008080"/>
                </a:highlight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03CAE48-038F-2AD4-E60B-E5758A746E31}"/>
              </a:ext>
            </a:extLst>
          </p:cNvPr>
          <p:cNvSpPr txBox="1"/>
          <p:nvPr/>
        </p:nvSpPr>
        <p:spPr>
          <a:xfrm>
            <a:off x="3733799" y="190500"/>
            <a:ext cx="10271325" cy="1240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IN" sz="6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MONTHLY CALL VOLUME</a:t>
            </a:r>
            <a:endParaRPr lang="en-US" sz="6200" b="1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47DA2EC-F3A6-4583-8496-B02FD23EAB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3515282"/>
              </p:ext>
            </p:extLst>
          </p:nvPr>
        </p:nvGraphicFramePr>
        <p:xfrm>
          <a:off x="9897697" y="2090009"/>
          <a:ext cx="8214854" cy="6666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B715B0B6-8281-944A-750D-C558303D1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301544"/>
            <a:ext cx="93726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Key Pointers:</a:t>
            </a:r>
          </a:p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Call volume peaked in December 2023</a:t>
            </a:r>
          </a:p>
          <a:p>
            <a:pPr lvl="1">
              <a:defRPr sz="1200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(8,073 calls)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Sharp drop in January 2024 (418 calls) requires investigation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Use trends to guide promotions and hiring cycles</a:t>
            </a:r>
          </a:p>
        </p:txBody>
      </p:sp>
    </p:spTree>
    <p:extLst>
      <p:ext uri="{BB962C8B-B14F-4D97-AF65-F5344CB8AC3E}">
        <p14:creationId xmlns:p14="http://schemas.microsoft.com/office/powerpoint/2010/main" val="1976355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6CFE-07CE-863D-E778-9D9A02171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B0FAF7C2-F867-E178-6767-6A2D7AD0E721}"/>
              </a:ext>
            </a:extLst>
          </p:cNvPr>
          <p:cNvGrpSpPr/>
          <p:nvPr/>
        </p:nvGrpSpPr>
        <p:grpSpPr>
          <a:xfrm rot="5400000">
            <a:off x="8268677" y="-3990031"/>
            <a:ext cx="1335145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7C20E17-A2F1-07CF-2909-47B0A7BFCB8B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3AB2916-5688-C2A3-0645-3EFA0A5C0E6B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1DA4D8F-9D1B-AA63-A506-FF19842ADD35}"/>
              </a:ext>
            </a:extLst>
          </p:cNvPr>
          <p:cNvGrpSpPr/>
          <p:nvPr/>
        </p:nvGrpSpPr>
        <p:grpSpPr>
          <a:xfrm rot="5400000">
            <a:off x="8135105" y="-4210804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9279237-DCD1-69DF-A191-E5B9515D39C9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4506EF4-91DA-7D7B-61CF-70B1A3C339D2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>
                <a:highlight>
                  <a:srgbClr val="008080"/>
                </a:highlight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44E345AB-7A0C-72E2-8394-6E49A36F9D0E}"/>
              </a:ext>
            </a:extLst>
          </p:cNvPr>
          <p:cNvSpPr txBox="1"/>
          <p:nvPr/>
        </p:nvSpPr>
        <p:spPr>
          <a:xfrm>
            <a:off x="3733799" y="190500"/>
            <a:ext cx="10271325" cy="1263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IN" sz="6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WEBSITE</a:t>
            </a:r>
            <a:endParaRPr lang="en-US" sz="6600" b="1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4E5C953B-FCDA-6A7B-FDA8-8572DA905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1" y="1914804"/>
            <a:ext cx="9067799" cy="744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Pointers:
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Most traffic comes from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Gurucool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which has low satisfaction ratings</a:t>
            </a:r>
          </a:p>
          <a:p>
            <a:pPr>
              <a:defRPr sz="1200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Redesign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Gurucool's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UX to boost chat satisfaction</a:t>
            </a:r>
          </a:p>
          <a:p>
            <a:pPr>
              <a:defRPr sz="1200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200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Track performance of changes through engagement &amp; rating metrics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  <a:ea typeface="Lato" panose="020F0502020204030203"/>
              <a:cs typeface="Arial" panose="020B0604020202020204" pitchFamily="34" charset="0"/>
            </a:endParaRP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Gurucool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dominates traffic but has low ratings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it’s a critical UI/UX upgrade target.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Improve loading speed, error handling, and user flow on top platforms.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/ B test UI changes to measure impact on conversion and satisfaction.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30B09D8-3F87-4585-9772-5345894886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6102364"/>
              </p:ext>
            </p:extLst>
          </p:nvPr>
        </p:nvGraphicFramePr>
        <p:xfrm>
          <a:off x="9677400" y="2263109"/>
          <a:ext cx="8534400" cy="5242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9220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5D754-376B-F4E8-681E-17BE91D7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ACA6833B-90DD-A1DA-7089-DB98F60146CF}"/>
              </a:ext>
            </a:extLst>
          </p:cNvPr>
          <p:cNvGrpSpPr/>
          <p:nvPr/>
        </p:nvGrpSpPr>
        <p:grpSpPr>
          <a:xfrm rot="5400000">
            <a:off x="8744704" y="-4061912"/>
            <a:ext cx="1335146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0F2D1DD-FDA8-497B-7A22-AFF6F391CF70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CCC7283-07CA-C228-830F-66432EB76ABB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20FE46C-2259-180B-FE93-B598E885A069}"/>
              </a:ext>
            </a:extLst>
          </p:cNvPr>
          <p:cNvGrpSpPr/>
          <p:nvPr/>
        </p:nvGrpSpPr>
        <p:grpSpPr>
          <a:xfrm rot="5400000">
            <a:off x="8388681" y="-4305077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E8CEA2D-F2B2-49BD-E1EF-E33998B46451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284DCBC-A8DA-C456-345C-3B80A4860C22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77FA95A-5D0A-1F4A-99B3-9946D76A8C51}"/>
              </a:ext>
            </a:extLst>
          </p:cNvPr>
          <p:cNvSpPr txBox="1"/>
          <p:nvPr/>
        </p:nvSpPr>
        <p:spPr>
          <a:xfrm>
            <a:off x="3810000" y="63620"/>
            <a:ext cx="10627350" cy="1233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5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SATISFACTION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DE802DC5-9F08-6C15-549C-4A93EC322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802" y="-701521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=COUNTIF()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 counting calls and unique agents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=AVERAGE()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=COUNTA(DISTINCT())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(or Power Pivot)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Calculations for per-day and per-agent stats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A78AF35-C64E-7A43-B4DE-9964352BE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065020"/>
            <a:ext cx="15773400" cy="75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customer rating (December 2023):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2.9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customer rating (January 2024):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2.7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Satisfaction ratings were mostly concentrated between 2 and 4 stars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between call duration and customer rating is weak</a:t>
            </a:r>
            <a:endParaRPr lang="en-US" altLang="en-US" sz="2200" b="1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Longer calls do not guarantee better ratings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Top-rated astrologers (based on average rating):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Astro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Pujaa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Rai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Tarot Mystical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Lowest-rated astrologer: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Tarot Rittika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Performance-based differentiation shows need for targeted training and feedback sessions.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 should be monitored continuously to maintain service quality.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7D612EE-0E1E-4F10-ABE6-31B68F3098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0806870"/>
              </p:ext>
            </p:extLst>
          </p:nvPr>
        </p:nvGraphicFramePr>
        <p:xfrm>
          <a:off x="10591800" y="1821854"/>
          <a:ext cx="7696200" cy="59124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24458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ABAFE-C13E-48AD-4F3B-4A165A21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8F1628B0-F44E-AADA-9767-F9F94148A6B0}"/>
              </a:ext>
            </a:extLst>
          </p:cNvPr>
          <p:cNvSpPr/>
          <p:nvPr/>
        </p:nvSpPr>
        <p:spPr>
          <a:xfrm>
            <a:off x="9296401" y="1749636"/>
            <a:ext cx="6781799" cy="5008812"/>
          </a:xfrm>
          <a:prstGeom prst="round2SameRect">
            <a:avLst>
              <a:gd name="adj1" fmla="val 12839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7AFB4BF2-722D-02FF-D654-A2D7E4BA436D}"/>
              </a:ext>
            </a:extLst>
          </p:cNvPr>
          <p:cNvSpPr/>
          <p:nvPr/>
        </p:nvSpPr>
        <p:spPr>
          <a:xfrm>
            <a:off x="1447802" y="1749636"/>
            <a:ext cx="6781799" cy="5008812"/>
          </a:xfrm>
          <a:prstGeom prst="round2SameRect">
            <a:avLst>
              <a:gd name="adj1" fmla="val 13723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D50079C4-0E86-8174-D44F-0C02AA7C728E}"/>
              </a:ext>
            </a:extLst>
          </p:cNvPr>
          <p:cNvSpPr/>
          <p:nvPr/>
        </p:nvSpPr>
        <p:spPr>
          <a:xfrm>
            <a:off x="1447801" y="6819900"/>
            <a:ext cx="14630398" cy="3148434"/>
          </a:xfrm>
          <a:prstGeom prst="round2SameRect">
            <a:avLst>
              <a:gd name="adj1" fmla="val 0"/>
              <a:gd name="adj2" fmla="val 135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4DA5334-28F2-1D97-2A50-C9343755A8A0}"/>
              </a:ext>
            </a:extLst>
          </p:cNvPr>
          <p:cNvGrpSpPr/>
          <p:nvPr/>
        </p:nvGrpSpPr>
        <p:grpSpPr>
          <a:xfrm rot="5400000">
            <a:off x="8748333" y="-4118540"/>
            <a:ext cx="1335146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8092CA1-767E-F864-DF9C-95D22FD0392A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804A76A-1B39-9A41-E76D-77D79EA11A56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759AC4C-F5AD-08A4-FFE6-FF64D34D1758}"/>
              </a:ext>
            </a:extLst>
          </p:cNvPr>
          <p:cNvGrpSpPr/>
          <p:nvPr/>
        </p:nvGrpSpPr>
        <p:grpSpPr>
          <a:xfrm rot="5400000">
            <a:off x="8388681" y="-4305077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CB4A0FF-D13E-0B73-B5A0-5E835DD14FAB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0DD2BB4-5191-B076-DF82-FF1B9C960176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015B80B-695D-D599-9913-695DD6408DBB}"/>
              </a:ext>
            </a:extLst>
          </p:cNvPr>
          <p:cNvSpPr txBox="1"/>
          <p:nvPr/>
        </p:nvSpPr>
        <p:spPr>
          <a:xfrm>
            <a:off x="4031394" y="63620"/>
            <a:ext cx="9884177" cy="1233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5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INVESTMENT STRATEGY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2403F640-CB68-2A7C-2ABE-8D6809862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802" y="-701521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=COUNTIF()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 counting calls and unique agents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=AVERAGE()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=COUNTA(DISTINCT())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(or Power Pivot)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Calculations for per-day and per-agent stats</a:t>
            </a:r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FEB8A8EF-9682-C177-947F-BBC79862D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1" y="2038439"/>
            <a:ext cx="6781799" cy="45550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Technology Upgrade – ₹40 Lakhs (40%)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69.62% of users use chat services, mainly on </a:t>
            </a:r>
            <a:r>
              <a:rPr kumimoji="0" lang="en-US" altLang="en-US" sz="2200" b="1" i="0" u="none" strike="noStrike" spc="50" normalizeH="0" baseline="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Gurucool</a:t>
            </a:r>
            <a:r>
              <a:rPr kumimoji="0" lang="en-US" altLang="en-US" sz="22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has a low average rating of 2.72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1" i="0" u="none" strike="noStrike" spc="50" normalizeH="0" baseline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1" i="0" u="none" strike="noStrike" spc="50" normalizeH="0" baseline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Upgrade the chat platform (UI/UX redesign)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AI chatbots for instant resolution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backend performance to reduce age / crashes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spc="50" normalizeH="0" baseline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Outcome: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chat satisfaction, higher retention, and reduced operational delays</a:t>
            </a: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BA2DD445-51EB-05F6-8A9E-B97D32EFF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2114641"/>
            <a:ext cx="6781799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Agent Training Program – ₹25 Lakhs (25%)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40.77% of booked calls are completed, despite calls contributing 78.69% of revenue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1" i="0" u="none" strike="noStrike" spc="50" normalizeH="0" baseline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1" i="0" u="none" strike="noStrike" spc="50" normalizeH="0" baseline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training on soft skills, upselling, and technical handling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performance data to coach underperforming agents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spc="50" normalizeH="0" baseline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Outcome:</a:t>
            </a:r>
            <a:endParaRPr lang="en-US" altLang="en-US" sz="2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in successful calls, better customer   experience, and improved satisfaction</a:t>
            </a: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CE1DDF77-8168-9203-D594-60C2E91FD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867823"/>
            <a:ext cx="14478000" cy="2954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Support Infrastructure, Data Security &amp; Customer Care Tools – ₹35 Lakhs (35%)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spc="50" normalizeH="0" baseline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Recommendations: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Hire freelance/part-time agents to manage peak hours and reduce wait times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 in infrastructure and data protection (e.g., cloud backups, system stability)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up automated feedback tools (post-call surveys, follow-ups)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spc="50" normalizeH="0" baseline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Outcome:</a:t>
            </a:r>
            <a:endParaRPr lang="en-US" altLang="en-US" sz="2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spc="50" normalizeH="0" baseline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response during peak hours, improved customer support, and stronger data security</a:t>
            </a:r>
          </a:p>
        </p:txBody>
      </p:sp>
    </p:spTree>
    <p:extLst>
      <p:ext uri="{BB962C8B-B14F-4D97-AF65-F5344CB8AC3E}">
        <p14:creationId xmlns:p14="http://schemas.microsoft.com/office/powerpoint/2010/main" val="1495019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A8444-EEDE-DDE6-5763-3533722D8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EBAA9A28-50CE-84DF-4DB6-5EAE6647A32F}"/>
              </a:ext>
            </a:extLst>
          </p:cNvPr>
          <p:cNvGrpSpPr/>
          <p:nvPr/>
        </p:nvGrpSpPr>
        <p:grpSpPr>
          <a:xfrm rot="5400000">
            <a:off x="8693818" y="-4131471"/>
            <a:ext cx="1335146" cy="10137754"/>
            <a:chOff x="0" y="0"/>
            <a:chExt cx="285629" cy="216877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85E9E9D-50DC-5944-1A20-A5918FD77D53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F2D3839-915C-07FB-9498-C57280749D1F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299F26C-2F66-9B7E-4DEE-8FBFCC6FA234}"/>
              </a:ext>
            </a:extLst>
          </p:cNvPr>
          <p:cNvGrpSpPr/>
          <p:nvPr/>
        </p:nvGrpSpPr>
        <p:grpSpPr>
          <a:xfrm rot="5400000">
            <a:off x="8388681" y="-4305077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5DDB100-A267-D03D-219E-EC774C1AEA2B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40E572F-8490-2307-F7FA-76AD43DD4302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E737E017-4E42-C235-8B63-24997246D878}"/>
              </a:ext>
            </a:extLst>
          </p:cNvPr>
          <p:cNvSpPr txBox="1"/>
          <p:nvPr/>
        </p:nvSpPr>
        <p:spPr>
          <a:xfrm>
            <a:off x="4031394" y="63620"/>
            <a:ext cx="9884177" cy="1263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6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FEA92EA3-3EF3-3857-B91C-73846A169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802" y="-701521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=COUNTIF()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 counting calls and unique agents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=AVERAGE()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=COUNTA(DISTINCT())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(or Power Pivot)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Calculations for per-day and per-agent stats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461476-B6E4-8B04-F9A4-7050A8FCB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73840"/>
            <a:ext cx="17754600" cy="7355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 of Key Insights: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 services generate the majority of revenue (78.69%) but only 40.77% of booked calls are completed — indicating a strong need for operational improvement.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callers make up just 35% of users but contribute over 72% of total calls — a vital segment for customer retention strategies.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services have low satisfaction (average rating 2.72), especially on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Gurucool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showing urgent need for platform upgrade.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productivity is low, averaging only 1.68 calls per agent per day — suggesting underutilization and shift optimization potential.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u="sng" dirty="0">
                <a:latin typeface="Arial" panose="020B0604020202020204" pitchFamily="34" charset="0"/>
              </a:rPr>
              <a:t>Strategic Recommendations: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Prioritize investment in </a:t>
            </a:r>
            <a:r>
              <a:rPr lang="en-US" altLang="en-US" sz="2400" b="1" dirty="0">
                <a:latin typeface="Arial" panose="020B0604020202020204" pitchFamily="34" charset="0"/>
              </a:rPr>
              <a:t>technology upgrades</a:t>
            </a:r>
            <a:r>
              <a:rPr lang="en-US" altLang="en-US" sz="2400" dirty="0">
                <a:latin typeface="Arial" panose="020B0604020202020204" pitchFamily="34" charset="0"/>
              </a:rPr>
              <a:t>, </a:t>
            </a:r>
            <a:r>
              <a:rPr lang="en-US" altLang="en-US" sz="2400" b="1" dirty="0">
                <a:latin typeface="Arial" panose="020B0604020202020204" pitchFamily="34" charset="0"/>
              </a:rPr>
              <a:t>agent training</a:t>
            </a:r>
            <a:r>
              <a:rPr lang="en-US" altLang="en-US" sz="2400" dirty="0">
                <a:latin typeface="Arial" panose="020B0604020202020204" pitchFamily="34" charset="0"/>
              </a:rPr>
              <a:t>, and </a:t>
            </a:r>
            <a:r>
              <a:rPr lang="en-US" altLang="en-US" sz="2400" b="1" dirty="0">
                <a:latin typeface="Arial" panose="020B0604020202020204" pitchFamily="34" charset="0"/>
              </a:rPr>
              <a:t>support infrastructure</a:t>
            </a:r>
            <a:r>
              <a:rPr lang="en-US" altLang="en-US" sz="2400" dirty="0">
                <a:latin typeface="Arial" panose="020B0604020202020204" pitchFamily="34" charset="0"/>
              </a:rPr>
              <a:t>, as outlined in the ₹1 crore allocation strategy.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Use a </a:t>
            </a:r>
            <a:r>
              <a:rPr lang="en-US" altLang="en-US" sz="2400" b="1" dirty="0">
                <a:latin typeface="Arial" panose="020B0604020202020204" pitchFamily="34" charset="0"/>
              </a:rPr>
              <a:t>real-time dashboard</a:t>
            </a:r>
            <a:r>
              <a:rPr lang="en-US" altLang="en-US" sz="2400" dirty="0">
                <a:latin typeface="Arial" panose="020B0604020202020204" pitchFamily="34" charset="0"/>
              </a:rPr>
              <a:t> to monitor daily operations, agent performance, and satisfaction metrics.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Launch </a:t>
            </a:r>
            <a:r>
              <a:rPr lang="en-US" altLang="en-US" sz="2400" b="1" dirty="0">
                <a:latin typeface="Arial" panose="020B0604020202020204" pitchFamily="34" charset="0"/>
              </a:rPr>
              <a:t>targeted loyalty programs</a:t>
            </a:r>
            <a:r>
              <a:rPr lang="en-US" altLang="en-US" sz="2400" dirty="0">
                <a:latin typeface="Arial" panose="020B0604020202020204" pitchFamily="34" charset="0"/>
              </a:rPr>
              <a:t> for repeat users to increase retention and average revenue per user.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Address service drop-offs by improving scheduling, system stability, and customer feedback loops.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865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>
            <a:extLst>
              <a:ext uri="{FF2B5EF4-FFF2-40B4-BE49-F238E27FC236}">
                <a16:creationId xmlns:a16="http://schemas.microsoft.com/office/drawing/2014/main" id="{07E97D1B-6BF9-7B96-4EBE-67C1F80EDBD9}"/>
              </a:ext>
            </a:extLst>
          </p:cNvPr>
          <p:cNvGrpSpPr/>
          <p:nvPr/>
        </p:nvGrpSpPr>
        <p:grpSpPr>
          <a:xfrm rot="5400000">
            <a:off x="8748333" y="-4118540"/>
            <a:ext cx="1335146" cy="10137754"/>
            <a:chOff x="0" y="0"/>
            <a:chExt cx="285629" cy="216877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851319-92C5-69FF-C126-425C9AF3BCDD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10F4E5F8-2398-BCFB-87E8-BFADCB207FA5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9">
            <a:extLst>
              <a:ext uri="{FF2B5EF4-FFF2-40B4-BE49-F238E27FC236}">
                <a16:creationId xmlns:a16="http://schemas.microsoft.com/office/drawing/2014/main" id="{7210AEC0-D35E-B673-2690-65AAF8B60F5E}"/>
              </a:ext>
            </a:extLst>
          </p:cNvPr>
          <p:cNvGrpSpPr/>
          <p:nvPr/>
        </p:nvGrpSpPr>
        <p:grpSpPr>
          <a:xfrm rot="5400000">
            <a:off x="8388681" y="-4305077"/>
            <a:ext cx="1335145" cy="10137754"/>
            <a:chOff x="0" y="0"/>
            <a:chExt cx="285629" cy="2168778"/>
          </a:xfrm>
          <a:solidFill>
            <a:schemeClr val="accent1">
              <a:lumMod val="75000"/>
            </a:schemeClr>
          </a:solidFill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92E32833-D302-6171-8C01-C667AD6D4759}"/>
                </a:ext>
              </a:extLst>
            </p:cNvPr>
            <p:cNvSpPr/>
            <p:nvPr/>
          </p:nvSpPr>
          <p:spPr>
            <a:xfrm>
              <a:off x="0" y="0"/>
              <a:ext cx="285629" cy="2168778"/>
            </a:xfrm>
            <a:custGeom>
              <a:avLst/>
              <a:gdLst/>
              <a:ahLst/>
              <a:cxnLst/>
              <a:rect l="l" t="t" r="r" b="b"/>
              <a:pathLst>
                <a:path w="285629" h="2168778">
                  <a:moveTo>
                    <a:pt x="0" y="0"/>
                  </a:moveTo>
                  <a:lnTo>
                    <a:pt x="285629" y="0"/>
                  </a:lnTo>
                  <a:lnTo>
                    <a:pt x="285629" y="2168778"/>
                  </a:lnTo>
                  <a:lnTo>
                    <a:pt x="0" y="2168778"/>
                  </a:lnTo>
                  <a:close/>
                </a:path>
              </a:pathLst>
            </a:custGeom>
            <a:grpFill/>
          </p:spPr>
        </p:sp>
        <p:sp>
          <p:nvSpPr>
            <p:cNvPr id="4" name="TextBox 11">
              <a:extLst>
                <a:ext uri="{FF2B5EF4-FFF2-40B4-BE49-F238E27FC236}">
                  <a16:creationId xmlns:a16="http://schemas.microsoft.com/office/drawing/2014/main" id="{F8FF44FA-B692-F961-53E5-85009F0D157B}"/>
                </a:ext>
              </a:extLst>
            </p:cNvPr>
            <p:cNvSpPr txBox="1"/>
            <p:nvPr/>
          </p:nvSpPr>
          <p:spPr>
            <a:xfrm>
              <a:off x="0" y="-28575"/>
              <a:ext cx="285629" cy="2197353"/>
            </a:xfrm>
            <a:prstGeom prst="rect">
              <a:avLst/>
            </a:prstGeom>
            <a:grpFill/>
          </p:spPr>
          <p:txBody>
            <a:bodyPr lIns="62541" tIns="62541" rIns="62541" bIns="62541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B7C8721-699A-8088-3417-D14A0DF8C419}"/>
              </a:ext>
            </a:extLst>
          </p:cNvPr>
          <p:cNvSpPr txBox="1"/>
          <p:nvPr/>
        </p:nvSpPr>
        <p:spPr>
          <a:xfrm>
            <a:off x="3853804" y="74187"/>
            <a:ext cx="9144000" cy="137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sz="7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4EFFDF-88D2-5B19-6AE2-7D749B23D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326" y="1767559"/>
            <a:ext cx="14457348" cy="844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92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2F6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27397" y="3808557"/>
            <a:ext cx="11633205" cy="2435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79"/>
              </a:lnSpc>
            </a:pPr>
            <a:r>
              <a:rPr lang="en-US" sz="14056" b="1" dirty="0">
                <a:solidFill>
                  <a:schemeClr val="accen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930</TotalTime>
  <Words>2089</Words>
  <Application>Microsoft Office PowerPoint</Application>
  <PresentationFormat>Custom</PresentationFormat>
  <Paragraphs>390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Unicode MS</vt:lpstr>
      <vt:lpstr>Atten New</vt:lpstr>
      <vt:lpstr>Wingdings 3</vt:lpstr>
      <vt:lpstr>Century Gothic</vt:lpstr>
      <vt:lpstr>League Spartan</vt:lpstr>
      <vt:lpstr>Wingdings</vt:lpstr>
      <vt:lpstr>Calibri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Sachin joshi</dc:title>
  <dc:creator>USER</dc:creator>
  <cp:lastModifiedBy>Vishal Ratnakar</cp:lastModifiedBy>
  <cp:revision>11</cp:revision>
  <dcterms:created xsi:type="dcterms:W3CDTF">2006-08-16T00:00:00Z</dcterms:created>
  <dcterms:modified xsi:type="dcterms:W3CDTF">2025-11-13T11:55:43Z</dcterms:modified>
  <dc:identifier>DAGsALJWMm4</dc:identifier>
</cp:coreProperties>
</file>